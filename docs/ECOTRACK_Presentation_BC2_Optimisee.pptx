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0" r:id="rId13"/>
    <p:sldId id="272" r:id="rId14"/>
    <p:sldId id="274" r:id="rId15"/>
    <p:sldId id="275" r:id="rId16"/>
    <p:sldId id="276" r:id="rId17"/>
    <p:sldId id="277" r:id="rId18"/>
    <p:sldId id="278" r:id="rId19"/>
    <p:sldId id="286" r:id="rId20"/>
    <p:sldId id="280" r:id="rId21"/>
    <p:sldId id="281" r:id="rId22"/>
    <p:sldId id="282" r:id="rId23"/>
    <p:sldId id="283" r:id="rId24"/>
    <p:sldId id="284" r:id="rId25"/>
    <p:sldId id="285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8471" autoAdjust="0"/>
  </p:normalViewPr>
  <p:slideViewPr>
    <p:cSldViewPr snapToGrid="0" snapToObjects="1">
      <p:cViewPr varScale="1">
        <p:scale>
          <a:sx n="72" d="100"/>
          <a:sy n="72" d="100"/>
        </p:scale>
        <p:origin x="107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0501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Notre </a:t>
            </a:r>
            <a:r>
              <a:rPr lang="en-US" b="1" dirty="0" err="1"/>
              <a:t>platforme</a:t>
            </a:r>
            <a:r>
              <a:rPr lang="en-US" b="1" dirty="0"/>
              <a:t> doit faire face à trois </a:t>
            </a:r>
            <a:r>
              <a:rPr lang="en-US" b="1" dirty="0" err="1"/>
              <a:t>profils</a:t>
            </a:r>
            <a:r>
              <a:rPr lang="en-US" b="1" dirty="0"/>
              <a:t> </a:t>
            </a:r>
            <a:r>
              <a:rPr lang="en-US" b="1" dirty="0" err="1"/>
              <a:t>d’attaquants</a:t>
            </a:r>
            <a:r>
              <a:rPr lang="en-US" b="1" dirty="0"/>
              <a:t>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7077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2011680"/>
            <a:ext cx="6400800" cy="6400800"/>
          </a:xfrm>
          <a:prstGeom prst="ellipse">
            <a:avLst/>
          </a:prstGeom>
          <a:solidFill>
            <a:srgbClr val="22D3C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F87171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INGETIS — ÉCOLE D'INGÉNIERIE INFORMATIQUE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68680" cy="329184"/>
          </a:xfrm>
          <a:prstGeom prst="roundRect">
            <a:avLst>
              <a:gd name="adj" fmla="val 41667"/>
            </a:avLst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7899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54480" y="107899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et déployer des architectures sécurisées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ECOTRACK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02920" y="263347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Sécurité Défensive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303580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Intelligent de Gestion des Déchets Urbains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3101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IoT &amp; Cybersécurité pour la Smart City</a:t>
            </a:r>
            <a:endParaRPr lang="en-US" sz="12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alphaModFix amt="94000"/>
          </a:blip>
          <a:stretch>
            <a:fillRect/>
          </a:stretch>
        </p:blipFill>
        <p:spPr>
          <a:xfrm>
            <a:off x="9875520" y="1737360"/>
            <a:ext cx="1645920" cy="16459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02920" y="3977640"/>
            <a:ext cx="11185855" cy="2057400"/>
          </a:xfrm>
          <a:prstGeom prst="roundRect">
            <a:avLst>
              <a:gd name="adj" fmla="val 3556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68680" y="425196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68680" y="4553712"/>
            <a:ext cx="2430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SIDIBE Sâlih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859568" y="425196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SPÉCIALITÉ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798531" y="4553712"/>
            <a:ext cx="2430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Mastère 1 — Expert en Architecture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Systèmes, Réseaux et Sécurité Informatique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709431" y="425196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SOUTENANCE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709431" y="4553712"/>
            <a:ext cx="2430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juin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présentation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présentation s'articule en 7 parties, de la segmentation réseau jusqu'à la feuille de route ISO 27001.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627632"/>
            <a:ext cx="5492344" cy="1026414"/>
          </a:xfrm>
          <a:prstGeom prst="roundRect">
            <a:avLst>
              <a:gd name="adj" fmla="val 6236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893951"/>
            <a:ext cx="493776" cy="4937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746504"/>
            <a:ext cx="448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371600" y="2011680"/>
            <a:ext cx="4440784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mission de sécurité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96432" y="1627632"/>
            <a:ext cx="5492344" cy="1026414"/>
          </a:xfrm>
          <a:prstGeom prst="roundRect">
            <a:avLst>
              <a:gd name="adj" fmla="val 6236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600" y="1893951"/>
            <a:ext cx="493776" cy="4937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65112" y="1746504"/>
            <a:ext cx="448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065112" y="2011680"/>
            <a:ext cx="4440784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en couches et segmentation réseau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" y="2855214"/>
            <a:ext cx="5492344" cy="1026414"/>
          </a:xfrm>
          <a:prstGeom prst="roundRect">
            <a:avLst>
              <a:gd name="adj" fmla="val 6236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3121533"/>
            <a:ext cx="493776" cy="4937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2974086"/>
            <a:ext cx="448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1371600" y="3239262"/>
            <a:ext cx="4440784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et configuration des équipements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96432" y="2855214"/>
            <a:ext cx="5492344" cy="1026414"/>
          </a:xfrm>
          <a:prstGeom prst="roundRect">
            <a:avLst>
              <a:gd name="adj" fmla="val 6236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7600" y="3121533"/>
            <a:ext cx="493776" cy="4937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65112" y="2974086"/>
            <a:ext cx="448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7065112" y="3239262"/>
            <a:ext cx="4440784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et infrastructure à clé publique (PKI)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02920" y="4082796"/>
            <a:ext cx="5492344" cy="1026414"/>
          </a:xfrm>
          <a:prstGeom prst="roundRect">
            <a:avLst>
              <a:gd name="adj" fmla="val 6236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" y="4349115"/>
            <a:ext cx="493776" cy="49377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71600" y="4201668"/>
            <a:ext cx="448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371600" y="4466844"/>
            <a:ext cx="4440784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Politiques IAM et modèle Zero Trust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196432" y="4082796"/>
            <a:ext cx="5492344" cy="1026414"/>
          </a:xfrm>
          <a:prstGeom prst="roundRect">
            <a:avLst>
              <a:gd name="adj" fmla="val 6236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7600" y="4349115"/>
            <a:ext cx="493776" cy="49377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065112" y="4201668"/>
            <a:ext cx="448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7065112" y="4466844"/>
            <a:ext cx="4440784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Virtualisation et conteneurisation des services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502920" y="5310378"/>
            <a:ext cx="5492344" cy="1026414"/>
          </a:xfrm>
          <a:prstGeom prst="roundRect">
            <a:avLst>
              <a:gd name="adj" fmla="val 6236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088" y="5576697"/>
            <a:ext cx="493776" cy="49377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371600" y="5429250"/>
            <a:ext cx="448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</a:t>
            </a:r>
            <a:endParaRPr lang="en-US" sz="1050" dirty="0"/>
          </a:p>
        </p:txBody>
      </p:sp>
      <p:sp>
        <p:nvSpPr>
          <p:cNvPr id="35" name="Text 26"/>
          <p:cNvSpPr/>
          <p:nvPr/>
        </p:nvSpPr>
        <p:spPr>
          <a:xfrm>
            <a:off x="1371600" y="5694426"/>
            <a:ext cx="4440784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Sécurisation OWASP, automatisation et documentation</a:t>
            </a:r>
            <a:endParaRPr lang="en-US" sz="1250" dirty="0"/>
          </a:p>
        </p:txBody>
      </p:sp>
      <p:sp>
        <p:nvSpPr>
          <p:cNvPr id="36" name="Shape 27"/>
          <p:cNvSpPr/>
          <p:nvPr/>
        </p:nvSpPr>
        <p:spPr>
          <a:xfrm>
            <a:off x="6196432" y="5310378"/>
            <a:ext cx="5492344" cy="1026414"/>
          </a:xfrm>
          <a:prstGeom prst="roundRect">
            <a:avLst>
              <a:gd name="adj" fmla="val 6236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7600" y="5576697"/>
            <a:ext cx="493776" cy="493776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065112" y="5429250"/>
            <a:ext cx="448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7</a:t>
            </a:r>
            <a:endParaRPr lang="en-US" sz="1050" dirty="0"/>
          </a:p>
        </p:txBody>
      </p:sp>
      <p:sp>
        <p:nvSpPr>
          <p:cNvPr id="39" name="Text 29"/>
          <p:cNvSpPr/>
          <p:nvPr/>
        </p:nvSpPr>
        <p:spPr>
          <a:xfrm>
            <a:off x="7065112" y="5694426"/>
            <a:ext cx="4440784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de posture, limites et perspectives ISO 27001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et mission de sécurité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</a:t>
            </a:r>
            <a:r>
              <a:rPr lang="en-US" sz="13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une startup fictive mais réaliste opérant dans le secteur des plateformes IoT environnementales. Son système d'information hétérogène doit être sécurisé face à trois profils d'attaquants 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3545738" cy="2606040"/>
          </a:xfrm>
          <a:prstGeom prst="roundRect">
            <a:avLst>
              <a:gd name="adj" fmla="val 2807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21992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807208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Attaquant externe opportuniste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3337560"/>
            <a:ext cx="29970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kiddie exploitant des vulnérabilités publiques connues via des scans automatisés.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22978" y="1965960"/>
            <a:ext cx="3545738" cy="2606040"/>
          </a:xfrm>
          <a:prstGeom prst="roundRect">
            <a:avLst>
              <a:gd name="adj" fmla="val 2807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298" y="222199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97298" y="2807208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Attaquant externe avancé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97298" y="3337560"/>
            <a:ext cx="29970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 Nmap, Nikto, SQLMap — cible la surface DMZ.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43037" y="1965960"/>
            <a:ext cx="3545738" cy="2606040"/>
          </a:xfrm>
          <a:prstGeom prst="roundRect">
            <a:avLst>
              <a:gd name="adj" fmla="val 2807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357" y="2221992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7357" y="2807208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Attaquant interne / accès compromis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417357" y="3337560"/>
            <a:ext cx="29970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 légitime ou certificat VPN usurpé cherchant une élévation de privilèges.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02920" y="4846320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777240" y="484632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d'information hétérogène — </a:t>
            </a: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web, base de données PostgreSQL, scripts IoT, interfaces d'administration.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2743200"/>
            <a:ext cx="111858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i="1" kern="0" spc="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PARTIE 1 — ARCHITECTURE SÉCURISÉE EN COUCHES ET SEGMENTATION RÉSEAU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ARCHITECTURE SÉCURISÉE EN COUCHES ET SEGMENTATION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— Défense en profondeur : 5 couches superposées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couche n'est infaillible seule : la compromission de l'une ne doit pas entraîner celle de l'ensemble du système.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627632"/>
            <a:ext cx="11185855" cy="841248"/>
          </a:xfrm>
          <a:prstGeom prst="roundRect">
            <a:avLst>
              <a:gd name="adj" fmla="val 6522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4088" y="1828800"/>
            <a:ext cx="438912" cy="43891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182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Périmétrique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32588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+ pfSense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1627632"/>
            <a:ext cx="82597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 (Default Deny, 4 interfaces), Suricata IPS, Squid proxy, HAProxy + Keepalived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02920" y="2560320"/>
            <a:ext cx="11185855" cy="841248"/>
          </a:xfrm>
          <a:prstGeom prst="roundRect">
            <a:avLst>
              <a:gd name="adj" fmla="val 6522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4088" y="2761488"/>
            <a:ext cx="438912" cy="43891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761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325880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Zero Trust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2560320"/>
            <a:ext cx="82597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ponts virtuels Proxmox, matrice de flux stricte, tout flux non déclaré = rejeté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02920" y="3493008"/>
            <a:ext cx="11185855" cy="841248"/>
          </a:xfrm>
          <a:prstGeom prst="roundRect">
            <a:avLst>
              <a:gd name="adj" fmla="val 6522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4088" y="3694176"/>
            <a:ext cx="438912" cy="438912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3694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3584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325880" y="38770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Hardening + EDR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0" y="3493008"/>
            <a:ext cx="82597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SSH durci, services désactivés, agents Wazuh temps réel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02920" y="4425696"/>
            <a:ext cx="11185855" cy="841248"/>
          </a:xfrm>
          <a:prstGeom prst="roundRect">
            <a:avLst>
              <a:gd name="adj" fmla="val 6522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04088" y="4626864"/>
            <a:ext cx="438912" cy="43891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" y="4626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25880" y="45171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325880" y="48097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OWASP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0" y="4425696"/>
            <a:ext cx="82597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ModSecurity CRS (paranoïa 2), test HTTP 403 validé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502920" y="5358384"/>
            <a:ext cx="11185855" cy="841248"/>
          </a:xfrm>
          <a:prstGeom prst="roundRect">
            <a:avLst>
              <a:gd name="adj" fmla="val 6522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04088" y="555955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704088" y="5559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325880" y="54498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325880" y="5742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</a:t>
            </a: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RBAC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0" y="5358384"/>
            <a:ext cx="82597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pgcrypto AES-256-CBC, bcrypt factor 12, RBAC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ARCHITECTURE SÉCURISÉE EN COUCHES ET SEGMENTATION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— Cinq zones réseau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11185855" cy="347472"/>
          </a:xfrm>
          <a:prstGeom prst="roundRect">
            <a:avLst>
              <a:gd name="adj" fmla="val 13158"/>
            </a:avLst>
          </a:prstGeom>
          <a:solidFill>
            <a:srgbClr val="1B3252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28016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84832" y="1280160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/ RÉSEAU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13632" y="1280160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793992" y="1280160"/>
            <a:ext cx="4270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PFSENSE RÉSUMÉE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1700784"/>
            <a:ext cx="11185855" cy="713232"/>
          </a:xfrm>
          <a:prstGeom prst="roundRect">
            <a:avLst>
              <a:gd name="adj" fmla="val 6410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1700784"/>
            <a:ext cx="64008" cy="71323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1700784"/>
            <a:ext cx="1207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084832" y="1700784"/>
            <a:ext cx="1618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vmbr0 / Internet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13632" y="1700784"/>
            <a:ext cx="2670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Hetzner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793992" y="1700784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Deny — tout bloqué sauf établis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502920" y="2505456"/>
            <a:ext cx="11185855" cy="713232"/>
          </a:xfrm>
          <a:prstGeom prst="roundRect">
            <a:avLst>
              <a:gd name="adj" fmla="val 6410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505456"/>
            <a:ext cx="64008" cy="71323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" y="2505456"/>
            <a:ext cx="1207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pfSense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084832" y="2505456"/>
            <a:ext cx="1618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vmbr1 / 10.0.0.0/24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13632" y="2505456"/>
            <a:ext cx="2670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pfSense (10.0.0.2)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93992" y="2505456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hôte → pare-feu uniquement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502920" y="3310128"/>
            <a:ext cx="11185855" cy="713232"/>
          </a:xfrm>
          <a:prstGeom prst="roundRect">
            <a:avLst>
              <a:gd name="adj" fmla="val 6410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310128"/>
            <a:ext cx="64008" cy="71323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" y="3310128"/>
            <a:ext cx="1207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084832" y="3310128"/>
            <a:ext cx="1618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vmbr2 / 10.10.1.0/24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13632" y="3310128"/>
            <a:ext cx="2670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ECO-PROXY, ECO-LB-02, VIP .100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793992" y="3310128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→ DMZ : TCP 80/443 vers VIP uniquement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02920" y="4114800"/>
            <a:ext cx="11185855" cy="713232"/>
          </a:xfrm>
          <a:prstGeom prst="roundRect">
            <a:avLst>
              <a:gd name="adj" fmla="val 6410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" y="4114800"/>
            <a:ext cx="64008" cy="713232"/>
          </a:xfrm>
          <a:prstGeom prst="rect">
            <a:avLst/>
          </a:prstGeom>
          <a:solidFill>
            <a:srgbClr val="22D3C9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" y="4114800"/>
            <a:ext cx="1207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Applicative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084832" y="4114800"/>
            <a:ext cx="1618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vmbr3 / 10.10.2.0/24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13632" y="4114800"/>
            <a:ext cx="2670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APP-ECO (.12), ECO-DB (.30/.31)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793992" y="4114800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ports 80 → APP ports 80 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502920" y="4919472"/>
            <a:ext cx="11185855" cy="713232"/>
          </a:xfrm>
          <a:prstGeom prst="roundRect">
            <a:avLst>
              <a:gd name="adj" fmla="val 6410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02920" y="4919472"/>
            <a:ext cx="64008" cy="71323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8" name="Text 36"/>
          <p:cNvSpPr/>
          <p:nvPr/>
        </p:nvSpPr>
        <p:spPr>
          <a:xfrm>
            <a:off x="667512" y="4919472"/>
            <a:ext cx="1207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2084832" y="4919472"/>
            <a:ext cx="1618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vmbr4 / 10.10.3.0/24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913632" y="4919472"/>
            <a:ext cx="2670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ECO-SEC Wazuh (.10), ECO-MON (.11)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793992" y="4919472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→ Toutes zones : lecture seule 1514/9100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502920" y="5724144"/>
            <a:ext cx="11185855" cy="713232"/>
          </a:xfrm>
          <a:prstGeom prst="roundRect">
            <a:avLst>
              <a:gd name="adj" fmla="val 6410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02920" y="5724144"/>
            <a:ext cx="64008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" y="5724144"/>
            <a:ext cx="1207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2084832" y="5724144"/>
            <a:ext cx="1618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vmbr5 / 10.10.4.0/24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913632" y="5724144"/>
            <a:ext cx="2670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MQTT, scripts de simulation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793992" y="5724144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→ APP : TCP 5432 (ECO-DB) uniquement</a:t>
            </a:r>
            <a:endParaRPr lang="en-US" sz="9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ARCHITECTURE SÉCURISÉE EN COUCHES ET SEGMENTATION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902739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 — Règle de fermeture globale et Zero Trust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BC2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1869066"/>
            <a:ext cx="3545738" cy="1783080"/>
          </a:xfrm>
          <a:prstGeom prst="roundRect">
            <a:avLst>
              <a:gd name="adj" fmla="val 4103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2509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2673738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continue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77240" y="3012066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L'IPS Suricata analyse en continu les paquets WAN entrants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322978" y="1869066"/>
            <a:ext cx="3545738" cy="1783080"/>
          </a:xfrm>
          <a:prstGeom prst="roundRect">
            <a:avLst>
              <a:gd name="adj" fmla="val 4103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298" y="212509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97298" y="2673738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temps réel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597298" y="3012066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immédiate des alertes au SIEM Wazuh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143037" y="1869066"/>
            <a:ext cx="3545738" cy="1783080"/>
          </a:xfrm>
          <a:prstGeom prst="roundRect">
            <a:avLst>
              <a:gd name="adj" fmla="val 4103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357" y="2125098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417357" y="2673738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totale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8417357" y="3012066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règle autorisée est documentée et journalisée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02920" y="49377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flux inter-zones non explicitement déclaré dans la matrice est rejeté silencieusement.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2743200"/>
            <a:ext cx="111858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i="1" kern="0" spc="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PARTIE 2 — DÉPLOIEMENT ET CONFIGURATION DES ÉQUIPEMENTS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DÉPLOIEMENT ET CONFIGURATION DES ÉQUIPEMENTS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 — Configuration pfSense : règles déployées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règles de filtrage implémentées sur pfSense, chacune journalisée pour alimenter le SIEM.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5478628" cy="1371600"/>
          </a:xfrm>
          <a:prstGeom prst="roundRect">
            <a:avLst>
              <a:gd name="adj" fmla="val 5333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801368"/>
            <a:ext cx="365760" cy="365760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16152" y="178308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→ DMZ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286000"/>
            <a:ext cx="49299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TCP vers VIP 10.10.1.100 sur ports 80/443 — inspection stateful active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0148" y="1600200"/>
            <a:ext cx="5478628" cy="1371600"/>
          </a:xfrm>
          <a:prstGeom prst="roundRect">
            <a:avLst>
              <a:gd name="adj" fmla="val 5333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38748" y="1801368"/>
            <a:ext cx="365760" cy="365760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15" name="Text 13"/>
          <p:cNvSpPr/>
          <p:nvPr/>
        </p:nvSpPr>
        <p:spPr>
          <a:xfrm>
            <a:off x="6438748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23380" y="178308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→ Applicative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84468" y="2286000"/>
            <a:ext cx="49299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TCP depuis ECO-DB vers ECO-APP port 80 et ECO-DB port 5432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154680"/>
            <a:ext cx="5478628" cy="1371600"/>
          </a:xfrm>
          <a:prstGeom prst="roundRect">
            <a:avLst>
              <a:gd name="adj" fmla="val 5333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355848"/>
            <a:ext cx="365760" cy="365760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16152" y="33375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→ WAN (sortant)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3840480"/>
            <a:ext cx="49299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TCP 10.10.1.0/24 → any 80/443 — intercepté par Squid pour audit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0148" y="3154680"/>
            <a:ext cx="5478628" cy="1371600"/>
          </a:xfrm>
          <a:prstGeom prst="roundRect">
            <a:avLst>
              <a:gd name="adj" fmla="val 5333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38748" y="3355848"/>
            <a:ext cx="365760" cy="365760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25" name="Text 23"/>
          <p:cNvSpPr/>
          <p:nvPr/>
        </p:nvSpPr>
        <p:spPr>
          <a:xfrm>
            <a:off x="6438748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23380" y="33375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→ Toutes zones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84468" y="3840480"/>
            <a:ext cx="49299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TCP/UDP 10.10.3.0/24 ports Wazuh 1514/1515 et Prometheus 9100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4709160"/>
            <a:ext cx="5478628" cy="1371600"/>
          </a:xfrm>
          <a:prstGeom prst="roundRect">
            <a:avLst>
              <a:gd name="adj" fmla="val 5333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4910328"/>
            <a:ext cx="365760" cy="365760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16152" y="489204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→ Applicative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7240" y="5394960"/>
            <a:ext cx="49299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TCP depuis l'IP du script d'ingestion uniquement vers ECO-DB 5432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0148" y="4709160"/>
            <a:ext cx="5478628" cy="1371600"/>
          </a:xfrm>
          <a:prstGeom prst="roundRect">
            <a:avLst>
              <a:gd name="adj" fmla="val 5333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38748" y="4910328"/>
            <a:ext cx="365760" cy="36576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5" name="Text 33"/>
          <p:cNvSpPr/>
          <p:nvPr/>
        </p:nvSpPr>
        <p:spPr>
          <a:xfrm>
            <a:off x="6438748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23380" y="489204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par défaut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84468" y="5394960"/>
            <a:ext cx="49299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all — rejet silencieux sur toutes interfaces, logs activés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DÉPLOIEMENT ET CONFIGURATION DES ÉQUIPEMENTS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 — Durcissement SSH (OS Hardening) conforme ANSSI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11185855" cy="384048"/>
          </a:xfrm>
          <a:prstGeom prst="roundRect">
            <a:avLst>
              <a:gd name="adj" fmla="val 11905"/>
            </a:avLst>
          </a:prstGeom>
          <a:solidFill>
            <a:srgbClr val="1B325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801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 sshd_config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794760" y="1280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APPLIQUÉE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72200" y="12801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SÉCURITÉ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755648"/>
            <a:ext cx="11185855" cy="566928"/>
          </a:xfrm>
          <a:prstGeom prst="roundRect">
            <a:avLst>
              <a:gd name="adj" fmla="val 8065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17556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94760" y="17556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Personnalisé (hors 22)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72200" y="175564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du bruit de scans automatisés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414016"/>
            <a:ext cx="11185855" cy="566928"/>
          </a:xfrm>
          <a:prstGeom prst="roundRect">
            <a:avLst>
              <a:gd name="adj" fmla="val 8065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241401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PasswordAuthentication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94760" y="241401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241401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Blocage total des attaques par dictionnaire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072384"/>
            <a:ext cx="11185855" cy="566928"/>
          </a:xfrm>
          <a:prstGeom prst="roundRect">
            <a:avLst>
              <a:gd name="adj" fmla="val 8065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307238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PubkeyAuthentication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94760" y="307238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72200" y="307238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asymétrique obligatoire (Ed25519)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730752"/>
            <a:ext cx="11185855" cy="566928"/>
          </a:xfrm>
          <a:prstGeom prst="roundRect">
            <a:avLst>
              <a:gd name="adj" fmla="val 8065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" y="37307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PermitRootLogin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94760" y="373075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72200" y="373075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Interdiction d'accès root direct sur le réseau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4389120"/>
            <a:ext cx="11185855" cy="566928"/>
          </a:xfrm>
          <a:prstGeom prst="roundRect">
            <a:avLst>
              <a:gd name="adj" fmla="val 8065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" y="43891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Fail2ban (jail)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94760" y="43891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3 tentatives/10min → ban 24h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438912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Neutralisation des brute-force automatisés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DÉPLOIEMENT ET CONFIGURATION DES ÉQUIPEMENTS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 — Tests de filtrage réalisés et validés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23815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5455768" cy="1965960"/>
          </a:xfrm>
          <a:prstGeom prst="roundRect">
            <a:avLst>
              <a:gd name="adj" fmla="val 3721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36192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44168" y="1508760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WAF XSS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214884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&lt;script&gt;alert(1)&lt;/script&gt;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7240" y="2514600"/>
            <a:ext cx="1371600" cy="292608"/>
          </a:xfrm>
          <a:prstGeom prst="roundRect">
            <a:avLst>
              <a:gd name="adj" fmla="val 46875"/>
            </a:avLst>
          </a:prstGeom>
          <a:solidFill>
            <a:srgbClr val="34D399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514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VALIDÉ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77240" y="288036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403 Forbidden retourné par ModSecurity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33008" y="1280160"/>
            <a:ext cx="5455768" cy="1965960"/>
          </a:xfrm>
          <a:prstGeom prst="roundRect">
            <a:avLst>
              <a:gd name="adj" fmla="val 3721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28" y="1536192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74256" y="1508760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bascule HAProxy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507328" y="214884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simulé du nœud primaire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507328" y="2514600"/>
            <a:ext cx="1371600" cy="292608"/>
          </a:xfrm>
          <a:prstGeom prst="roundRect">
            <a:avLst>
              <a:gd name="adj" fmla="val 46875"/>
            </a:avLst>
          </a:prstGeom>
          <a:solidFill>
            <a:srgbClr val="34D399"/>
          </a:solidFill>
          <a:ln/>
        </p:spPr>
      </p:sp>
      <p:sp>
        <p:nvSpPr>
          <p:cNvPr id="19" name="Text 15"/>
          <p:cNvSpPr/>
          <p:nvPr/>
        </p:nvSpPr>
        <p:spPr>
          <a:xfrm>
            <a:off x="6507328" y="2514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VALIDÉ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507328" y="288036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Basculement automatique Keepalived en moins de 5 secondes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02920" y="3474720"/>
            <a:ext cx="5455768" cy="1965960"/>
          </a:xfrm>
          <a:prstGeom prst="roundRect">
            <a:avLst>
              <a:gd name="adj" fmla="val 3721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730752"/>
            <a:ext cx="420624" cy="4206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44168" y="3703320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réplication PostgreSQL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777240" y="434340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Coupure simulée d'ECO-DB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77240" y="4709160"/>
            <a:ext cx="1371600" cy="292608"/>
          </a:xfrm>
          <a:prstGeom prst="roundRect">
            <a:avLst>
              <a:gd name="adj" fmla="val 46875"/>
            </a:avLst>
          </a:prstGeom>
          <a:solidFill>
            <a:srgbClr val="34D399"/>
          </a:solidFill>
          <a:ln/>
        </p:spPr>
      </p:sp>
      <p:sp>
        <p:nvSpPr>
          <p:cNvPr id="26" name="Text 21"/>
          <p:cNvSpPr/>
          <p:nvPr/>
        </p:nvSpPr>
        <p:spPr>
          <a:xfrm>
            <a:off x="777240" y="47091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VALIDÉ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777240" y="507492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automatique d'ECO-DB-02 par Patroni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233008" y="3474720"/>
            <a:ext cx="5455768" cy="1965960"/>
          </a:xfrm>
          <a:prstGeom prst="roundRect">
            <a:avLst>
              <a:gd name="adj" fmla="val 3721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7328" y="3730752"/>
            <a:ext cx="420624" cy="42062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74256" y="3703320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Fail2ban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6507328" y="434340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tentatives SSH échouées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6507328" y="4709160"/>
            <a:ext cx="1371600" cy="292608"/>
          </a:xfrm>
          <a:prstGeom prst="roundRect">
            <a:avLst>
              <a:gd name="adj" fmla="val 46875"/>
            </a:avLst>
          </a:prstGeom>
          <a:solidFill>
            <a:srgbClr val="34D399"/>
          </a:solidFill>
          <a:ln/>
        </p:spPr>
      </p:sp>
      <p:sp>
        <p:nvSpPr>
          <p:cNvPr id="33" name="Text 27"/>
          <p:cNvSpPr/>
          <p:nvPr/>
        </p:nvSpPr>
        <p:spPr>
          <a:xfrm>
            <a:off x="6507328" y="47091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VALIDÉ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6507328" y="507492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Bannissement IP automatique confirmé dans les logs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2743200"/>
            <a:ext cx="111858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i="1" kern="0" spc="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PARTIE 3 —  INFRASTRUCTURE À CLÉ PUBLIQUE (PKI)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CHIFFREMENT ET INFRASTRUCTURE À CLÉ PUBLIQUE (PKI)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 — PKI interne : hiérarchie et cycle de vie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serveur OpenVPN est installé directement sur l'hôte Debian 12 (et non sur pfSense), agissant comme passerelle d'accès exclusive et étanche avant Proxmox VE et les segments internes.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3545738" cy="2331720"/>
          </a:xfrm>
          <a:prstGeom prst="roundRect">
            <a:avLst>
              <a:gd name="adj" fmla="val 3137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83181" y="2057400"/>
            <a:ext cx="585216" cy="585216"/>
          </a:xfrm>
          <a:prstGeom prst="ellipse">
            <a:avLst/>
          </a:prstGeom>
          <a:solidFill>
            <a:srgbClr val="22D3C9">
              <a:alpha val="15000"/>
            </a:srgbClr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4621" y="2148840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274320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Racine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498549" y="3090672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3" name="Text 10"/>
          <p:cNvSpPr/>
          <p:nvPr/>
        </p:nvSpPr>
        <p:spPr>
          <a:xfrm>
            <a:off x="1498549" y="30906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4096 bits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5800" y="3429000"/>
            <a:ext cx="3179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Validité : 10 ans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04088" y="3675888"/>
            <a:ext cx="3143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des entités inférieures — clé privée confinée sur le serveur Debian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322978" y="1828800"/>
            <a:ext cx="3545738" cy="2331720"/>
          </a:xfrm>
          <a:prstGeom prst="roundRect">
            <a:avLst>
              <a:gd name="adj" fmla="val 3137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03240" y="2057400"/>
            <a:ext cx="585216" cy="585216"/>
          </a:xfrm>
          <a:prstGeom prst="ellipse">
            <a:avLst/>
          </a:prstGeom>
          <a:solidFill>
            <a:srgbClr val="22D3C9">
              <a:alpha val="15000"/>
            </a:srgbClr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680" y="2148840"/>
            <a:ext cx="402336" cy="4023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05858" y="274320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Serveur VPN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318608" y="3090672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21" name="Text 17"/>
          <p:cNvSpPr/>
          <p:nvPr/>
        </p:nvSpPr>
        <p:spPr>
          <a:xfrm>
            <a:off x="5318608" y="30906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2048 bits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505858" y="3429000"/>
            <a:ext cx="3179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Validité : 2 ans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524146" y="3675888"/>
            <a:ext cx="3143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du serveur OpenVPN Debian — signé par la CA racine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8143037" y="1828800"/>
            <a:ext cx="3545738" cy="2331720"/>
          </a:xfrm>
          <a:prstGeom prst="roundRect">
            <a:avLst>
              <a:gd name="adj" fmla="val 3137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9623298" y="2057400"/>
            <a:ext cx="585216" cy="585216"/>
          </a:xfrm>
          <a:prstGeom prst="ellipse">
            <a:avLst/>
          </a:prstGeom>
          <a:solidFill>
            <a:srgbClr val="22D3C9">
              <a:alpha val="15000"/>
            </a:srgbClr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4738" y="2148840"/>
            <a:ext cx="402336" cy="40233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325917" y="274320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Certificats Clients (×5)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9138666" y="3090672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29" name="Text 24"/>
          <p:cNvSpPr/>
          <p:nvPr/>
        </p:nvSpPr>
        <p:spPr>
          <a:xfrm>
            <a:off x="9138666" y="30906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2048 bits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8325917" y="3429000"/>
            <a:ext cx="3179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Validité : 1 an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8344205" y="3675888"/>
            <a:ext cx="3143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Abdallah, Boubacar, Wilfried, Terry, Salih — nominatifs et révocables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2743200"/>
            <a:ext cx="111858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i="1" kern="0" spc="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PARTIE 4 — POLITIQUES IAM ET MODÈLE ZERO TRUST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— POLITIQUES IAM ET MODÈLE ZERO 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 — Application du modèle Zero Trust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28543" y="1486542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«Ne jamais faire confiance, toujours vérifier» — quatre piliers concrets dans l'infrastructure ECOTRACK 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553934"/>
            <a:ext cx="2625014" cy="1508760"/>
          </a:xfrm>
          <a:prstGeom prst="roundRect">
            <a:avLst>
              <a:gd name="adj" fmla="val 4242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73681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4088" y="3148294"/>
            <a:ext cx="22226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Micro-segmentation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04088" y="3431758"/>
            <a:ext cx="22226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ponts virtuels Proxmox créent des zones hermétiques — Default Deny par pfSense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3356534" y="2553934"/>
            <a:ext cx="2625014" cy="1508760"/>
          </a:xfrm>
          <a:prstGeom prst="roundRect">
            <a:avLst>
              <a:gd name="adj" fmla="val 4242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702" y="273681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57702" y="3148294"/>
            <a:ext cx="22226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forte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557702" y="3431758"/>
            <a:ext cx="22226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OpenVPN requis avant tout accès, puis SSH par clé Ed25519 — aucun mot de passe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6223864" y="2617791"/>
            <a:ext cx="2625014" cy="1508760"/>
          </a:xfrm>
          <a:prstGeom prst="roundRect">
            <a:avLst>
              <a:gd name="adj" fmla="val 4242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316" y="273681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1316" y="3148294"/>
            <a:ext cx="22226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Moindre privilège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411316" y="3431758"/>
            <a:ext cx="22226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VM, conteneur et compte de service dispose uniquement des droits nécessaires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9063761" y="2553934"/>
            <a:ext cx="2625014" cy="1508760"/>
          </a:xfrm>
          <a:prstGeom prst="roundRect">
            <a:avLst>
              <a:gd name="adj" fmla="val 4242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4929" y="273681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64929" y="3148294"/>
            <a:ext cx="22226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continue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9264929" y="3431758"/>
            <a:ext cx="22226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(réseau), ModSecurity (applicatif), Wazuh (hôte) — analyse indépendante de l'origine</a:t>
            </a:r>
            <a:endParaRPr lang="en-US" sz="9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— POLITIQUES IAM ET MODÈLE ZERO 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— Gestion des identités et des accès (IAM)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11185855" cy="384048"/>
          </a:xfrm>
          <a:prstGeom prst="roundRect">
            <a:avLst>
              <a:gd name="adj" fmla="val 11905"/>
            </a:avLst>
          </a:prstGeom>
          <a:solidFill>
            <a:srgbClr val="1B325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80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D'ACCÈS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63240" y="12801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 IAM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532120" y="12801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DÉTAILS DE CONFIGURATION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737360"/>
            <a:ext cx="11185855" cy="658368"/>
          </a:xfrm>
          <a:prstGeom prst="roundRect">
            <a:avLst>
              <a:gd name="adj" fmla="val 6944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17373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infrastructure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63240" y="17373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OpenVPN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32120" y="17373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certificats nominatifs (Abdallah, Boubacar, Wilfried, Terry, Salih)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502920" y="2487168"/>
            <a:ext cx="11185855" cy="658368"/>
          </a:xfrm>
          <a:prstGeom prst="roundRect">
            <a:avLst>
              <a:gd name="adj" fmla="val 6944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248716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SSH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63240" y="248716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Ed25519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32120" y="248716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PermitRootLogin no, PasswordAuthentication no — Fail2ban 3 tentatives max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502920" y="3236976"/>
            <a:ext cx="11185855" cy="658368"/>
          </a:xfrm>
          <a:prstGeom prst="roundRect">
            <a:avLst>
              <a:gd name="adj" fmla="val 6944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323697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63240" y="323697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à rôles distincts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32120" y="323697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app (lecture/écriture limité), read-only, admin — moindre privilège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502920" y="3986784"/>
            <a:ext cx="11185855" cy="658368"/>
          </a:xfrm>
          <a:prstGeom prst="roundRect">
            <a:avLst>
              <a:gd name="adj" fmla="val 6944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" y="398678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017520" y="398678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via tunnel VPN uniquement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77840" y="398678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admin restreinte à la zone Management (10.10.3.0/24)</a:t>
            </a:r>
            <a:endParaRPr lang="en-US" sz="10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2743200"/>
            <a:ext cx="111858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i="1" kern="0" spc="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PARTIE 5 — VIRTUALISATION ET CONTENEURISATION DES SERVICES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 — VIRTUALISATION ET CONTENEURISATION DES SERVICES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 — Hyperviseur Proxmox VE : architecture de virtualisation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88813" y="1053699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unique sur Hetzner AX41-NVMe (Debian 12 / Proxmox VE 8) — KVM pour les VMs, LXC pour les conteneurs légers.</a:t>
            </a:r>
            <a:endParaRPr lang="en-US" sz="1200" dirty="0"/>
          </a:p>
        </p:txBody>
      </p:sp>
      <p:sp>
        <p:nvSpPr>
          <p:cNvPr id="68" name="Text 2">
            <a:extLst>
              <a:ext uri="{FF2B5EF4-FFF2-40B4-BE49-F238E27FC236}">
                <a16:creationId xmlns:a16="http://schemas.microsoft.com/office/drawing/2014/main" id="{5904C61B-C965-4D42-97B0-8F83F4EC5620}"/>
              </a:ext>
            </a:extLst>
          </p:cNvPr>
          <p:cNvSpPr/>
          <p:nvPr/>
        </p:nvSpPr>
        <p:spPr>
          <a:xfrm>
            <a:off x="788565" y="1346307"/>
            <a:ext cx="10514621" cy="4970058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i="1" kern="0" spc="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4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5009" y="859536"/>
            <a:ext cx="10613726" cy="5356706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i="1" kern="0" spc="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BC2</a:t>
            </a:r>
            <a:endParaRPr lang="en-US" sz="9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A0639CFF-F8E1-4A74-A249-CF17E3C7F695}"/>
              </a:ext>
            </a:extLst>
          </p:cNvPr>
          <p:cNvSpPr/>
          <p:nvPr/>
        </p:nvSpPr>
        <p:spPr>
          <a:xfrm>
            <a:off x="821701" y="347472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8FA3B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TOPOLOGIE RESEAU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443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23815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2743200"/>
            <a:ext cx="111858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i="1" kern="0" spc="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PARTIE 6 —  AUTOMATISATION ET DOCUMENTATION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— SÉCURISATION OWASP, AUTOMATISATION ET DOCUMENTATION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 — Scripts, documentation et souveraineté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— SCRIPTS D'AUTOMATISATION SÉCURITÉ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536192"/>
            <a:ext cx="5455768" cy="1280160"/>
          </a:xfrm>
          <a:prstGeom prst="roundRect">
            <a:avLst>
              <a:gd name="adj" fmla="val 5714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76479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52728" y="1700784"/>
            <a:ext cx="449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1 — Simulateur IoT (MQTT Publisher)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77240" y="228600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des valeurs aléatoires (température, poids, batterie, quantité) publiées sur Mosquitto avec authentification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33008" y="1536192"/>
            <a:ext cx="5455768" cy="1280160"/>
          </a:xfrm>
          <a:prstGeom prst="roundRect">
            <a:avLst>
              <a:gd name="adj" fmla="val 5714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040" y="176479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82816" y="1700784"/>
            <a:ext cx="449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2 — Ingestion MQTT → PostgreSQL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507328" y="228600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Surveille le broker en continu, valide et insère chaque mesure dans ECO-DB en temps réel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0292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— DOCUMENTATION PRODUITE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02920" y="3639312"/>
            <a:ext cx="5455768" cy="914400"/>
          </a:xfrm>
          <a:prstGeom prst="roundRect">
            <a:avLst>
              <a:gd name="adj" fmla="val 7000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895344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16152" y="3776472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 du SI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1216152" y="4050792"/>
            <a:ext cx="454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zones réseau avec adressage IP, ponts virtuels et flux autorisés</a:t>
            </a:r>
            <a:endParaRPr lang="en-US" sz="970" dirty="0"/>
          </a:p>
        </p:txBody>
      </p:sp>
      <p:sp>
        <p:nvSpPr>
          <p:cNvPr id="22" name="Shape 17"/>
          <p:cNvSpPr/>
          <p:nvPr/>
        </p:nvSpPr>
        <p:spPr>
          <a:xfrm>
            <a:off x="6233008" y="3639312"/>
            <a:ext cx="5455768" cy="914400"/>
          </a:xfrm>
          <a:prstGeom prst="roundRect">
            <a:avLst>
              <a:gd name="adj" fmla="val 7000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1608" y="3895344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46240" y="3776472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flux pfSense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946240" y="4050792"/>
            <a:ext cx="454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règles documentées avec source, destination, port et justification</a:t>
            </a:r>
            <a:endParaRPr lang="en-US" sz="970" dirty="0"/>
          </a:p>
        </p:txBody>
      </p:sp>
      <p:sp>
        <p:nvSpPr>
          <p:cNvPr id="26" name="Shape 20"/>
          <p:cNvSpPr/>
          <p:nvPr/>
        </p:nvSpPr>
        <p:spPr>
          <a:xfrm>
            <a:off x="502920" y="4736592"/>
            <a:ext cx="11185855" cy="914400"/>
          </a:xfrm>
          <a:prstGeom prst="roundRect">
            <a:avLst>
              <a:gd name="adj" fmla="val 8000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965192"/>
            <a:ext cx="438912" cy="4389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71600" y="484632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— Souveraineté cloud — </a:t>
            </a: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hébergeur européen Hetzner (Allemagne), conformité RGPD. Stack 100% open-source, aucune dépendance propriétaire.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2743200"/>
            <a:ext cx="111858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i="1" kern="0" spc="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PARTIE 7 — BILAN DE POSTURE, LIMITES ET PERSPECTIVES ISO 27001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7 — BILAN DE POSTURE, LIMITES ET PERSPECTIVES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 / 7.2 — Posture atteinte et limites identifiées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ACQUIS MAJEURS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3618890" cy="685800"/>
          </a:xfrm>
          <a:prstGeom prst="roundRect">
            <a:avLst>
              <a:gd name="adj" fmla="val 8000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69164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33272" y="1554480"/>
            <a:ext cx="29330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stricte — 5 zones hermétiques, gouvernées par pfSense Default Deny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4286402" y="1508760"/>
            <a:ext cx="3618890" cy="685800"/>
          </a:xfrm>
          <a:prstGeom prst="roundRect">
            <a:avLst>
              <a:gd name="adj" fmla="val 8000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994" y="16916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16754" y="1554480"/>
            <a:ext cx="29330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dispo DMZ — SPOF éliminé, bascule &lt; 5s validée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8069885" y="1508760"/>
            <a:ext cx="3618890" cy="685800"/>
          </a:xfrm>
          <a:prstGeom prst="roundRect">
            <a:avLst>
              <a:gd name="adj" fmla="val 8000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4477" y="169164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00237" y="1554480"/>
            <a:ext cx="29330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actif — ModSecurity Paranoia 2, test XSS bloqué confirmé</a:t>
            </a:r>
            <a:endParaRPr lang="en-US" sz="930" dirty="0"/>
          </a:p>
        </p:txBody>
      </p:sp>
      <p:sp>
        <p:nvSpPr>
          <p:cNvPr id="17" name="Shape 12"/>
          <p:cNvSpPr/>
          <p:nvPr/>
        </p:nvSpPr>
        <p:spPr>
          <a:xfrm>
            <a:off x="502920" y="2286000"/>
            <a:ext cx="3618890" cy="685800"/>
          </a:xfrm>
          <a:prstGeom prst="roundRect">
            <a:avLst>
              <a:gd name="adj" fmla="val 8000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46888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33272" y="2331720"/>
            <a:ext cx="29330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centralisé — Wazuh + Elasticsearch + Grafana, MITRE ATT&amp;CK</a:t>
            </a:r>
            <a:endParaRPr lang="en-US" sz="930" dirty="0"/>
          </a:p>
        </p:txBody>
      </p:sp>
      <p:sp>
        <p:nvSpPr>
          <p:cNvPr id="20" name="Shape 14"/>
          <p:cNvSpPr/>
          <p:nvPr/>
        </p:nvSpPr>
        <p:spPr>
          <a:xfrm>
            <a:off x="4286402" y="2286000"/>
            <a:ext cx="3618890" cy="685800"/>
          </a:xfrm>
          <a:prstGeom prst="roundRect">
            <a:avLst>
              <a:gd name="adj" fmla="val 8000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994" y="2468880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816754" y="2331720"/>
            <a:ext cx="29330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distants gouvernés — PKI OpenVPN, 5 certificats nominatifs</a:t>
            </a:r>
            <a:endParaRPr lang="en-US" sz="930" dirty="0"/>
          </a:p>
        </p:txBody>
      </p:sp>
      <p:sp>
        <p:nvSpPr>
          <p:cNvPr id="23" name="Shape 16"/>
          <p:cNvSpPr/>
          <p:nvPr/>
        </p:nvSpPr>
        <p:spPr>
          <a:xfrm>
            <a:off x="8069885" y="2286000"/>
            <a:ext cx="3618890" cy="685800"/>
          </a:xfrm>
          <a:prstGeom prst="roundRect">
            <a:avLst>
              <a:gd name="adj" fmla="val 8000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4477" y="2468880"/>
            <a:ext cx="292608" cy="29260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600237" y="2331720"/>
            <a:ext cx="29330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IoT sécurisé — broker authentifié et isolé</a:t>
            </a:r>
            <a:endParaRPr lang="en-US" sz="930" dirty="0"/>
          </a:p>
        </p:txBody>
      </p:sp>
      <p:sp>
        <p:nvSpPr>
          <p:cNvPr id="26" name="Text 18"/>
          <p:cNvSpPr/>
          <p:nvPr/>
        </p:nvSpPr>
        <p:spPr>
          <a:xfrm>
            <a:off x="502920" y="32461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LIMITES IDENTIFIÉES 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502920" y="3584448"/>
            <a:ext cx="2645588" cy="1508760"/>
          </a:xfrm>
          <a:prstGeom prst="roundRect">
            <a:avLst>
              <a:gd name="adj" fmla="val 4242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49040"/>
            <a:ext cx="310896" cy="31089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85800" y="4114800"/>
            <a:ext cx="2279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Certificats auto-signés</a:t>
            </a:r>
            <a:endParaRPr lang="en-US" sz="1050" dirty="0"/>
          </a:p>
        </p:txBody>
      </p:sp>
      <p:sp>
        <p:nvSpPr>
          <p:cNvPr id="30" name="Text 21"/>
          <p:cNvSpPr/>
          <p:nvPr/>
        </p:nvSpPr>
        <p:spPr>
          <a:xfrm>
            <a:off x="685800" y="4498848"/>
            <a:ext cx="22798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Remplacement prévu par Let's Encrypt (ACME) ou PKI d'entreprise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3349676" y="3584448"/>
            <a:ext cx="2645588" cy="1508760"/>
          </a:xfrm>
          <a:prstGeom prst="roundRect">
            <a:avLst>
              <a:gd name="adj" fmla="val 4242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2556" y="3749040"/>
            <a:ext cx="310896" cy="310896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3532556" y="4114800"/>
            <a:ext cx="2279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inter-VM en clair</a:t>
            </a:r>
            <a:endParaRPr lang="en-US" sz="1050" dirty="0"/>
          </a:p>
        </p:txBody>
      </p:sp>
      <p:sp>
        <p:nvSpPr>
          <p:cNvPr id="34" name="Text 24"/>
          <p:cNvSpPr/>
          <p:nvPr/>
        </p:nvSpPr>
        <p:spPr>
          <a:xfrm>
            <a:off x="3532556" y="4498848"/>
            <a:ext cx="22798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→ Applicative en clair — hypothèse de confiance sur l'étanchéité des ponts</a:t>
            </a:r>
            <a:endParaRPr lang="en-US" sz="900" dirty="0"/>
          </a:p>
        </p:txBody>
      </p:sp>
      <p:sp>
        <p:nvSpPr>
          <p:cNvPr id="35" name="Shape 25"/>
          <p:cNvSpPr/>
          <p:nvPr/>
        </p:nvSpPr>
        <p:spPr>
          <a:xfrm>
            <a:off x="6196432" y="3584448"/>
            <a:ext cx="2645588" cy="1508760"/>
          </a:xfrm>
          <a:prstGeom prst="roundRect">
            <a:avLst>
              <a:gd name="adj" fmla="val 4242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312" y="3749040"/>
            <a:ext cx="310896" cy="310896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379312" y="4114800"/>
            <a:ext cx="2279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backup automatisé</a:t>
            </a:r>
            <a:endParaRPr lang="en-US" sz="1050" dirty="0"/>
          </a:p>
        </p:txBody>
      </p:sp>
      <p:sp>
        <p:nvSpPr>
          <p:cNvPr id="38" name="Text 27"/>
          <p:cNvSpPr/>
          <p:nvPr/>
        </p:nvSpPr>
        <p:spPr>
          <a:xfrm>
            <a:off x="6379312" y="4498848"/>
            <a:ext cx="22798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sauvegarde planifiée PostgreSQL — récupération limitée à pg_dump manuel</a:t>
            </a:r>
            <a:endParaRPr lang="en-US" sz="900" dirty="0"/>
          </a:p>
        </p:txBody>
      </p:sp>
      <p:sp>
        <p:nvSpPr>
          <p:cNvPr id="39" name="Shape 28"/>
          <p:cNvSpPr/>
          <p:nvPr/>
        </p:nvSpPr>
        <p:spPr>
          <a:xfrm>
            <a:off x="9043187" y="3584448"/>
            <a:ext cx="2645588" cy="1508760"/>
          </a:xfrm>
          <a:prstGeom prst="roundRect">
            <a:avLst>
              <a:gd name="adj" fmla="val 4242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067" y="3749040"/>
            <a:ext cx="310896" cy="310896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226067" y="4114800"/>
            <a:ext cx="2279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identifiants statiques</a:t>
            </a:r>
            <a:endParaRPr lang="en-US" sz="1050" dirty="0"/>
          </a:p>
        </p:txBody>
      </p:sp>
      <p:sp>
        <p:nvSpPr>
          <p:cNvPr id="42" name="Text 30"/>
          <p:cNvSpPr/>
          <p:nvPr/>
        </p:nvSpPr>
        <p:spPr>
          <a:xfrm>
            <a:off x="9226067" y="4498848"/>
            <a:ext cx="22798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Mosquitto à renforcer par mTLS côté capteurs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7 — BILAN DE POSTURE, LIMITES ET PERSPECTIVES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 / 7.4 — Vecteurs résiduels et feuille de route ISO 27001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VECTEURS D'ATTAQUE RÉSIDUELS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3576218" cy="1371600"/>
          </a:xfrm>
          <a:prstGeom prst="roundRect">
            <a:avLst>
              <a:gd name="adj" fmla="val 4667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6916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Compromission OpenVPN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2075688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de clé privée → accès Management. Parade : MFA (TOTP/FIDO2) en complément du PKI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07738" y="1508760"/>
            <a:ext cx="3576218" cy="1371600"/>
          </a:xfrm>
          <a:prstGeom prst="roundRect">
            <a:avLst>
              <a:gd name="adj" fmla="val 4667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36338" y="16916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pfSense/Proxmox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36338" y="2075688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Contre-mesures passives insuffisantes — veille CVE active et correctifs immédiats requis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12557" y="1508760"/>
            <a:ext cx="3576218" cy="1371600"/>
          </a:xfrm>
          <a:prstGeom prst="roundRect">
            <a:avLst>
              <a:gd name="adj" fmla="val 4667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41157" y="16916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interne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41157" y="2075688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Opérateurs aux privilèges étendus sur Proxmox — Zero Trust non total sur l'hyperviseur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108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 ISO/IEC 27001:2022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456432"/>
            <a:ext cx="2105497" cy="1691640"/>
          </a:xfrm>
          <a:prstGeom prst="roundRect">
            <a:avLst>
              <a:gd name="adj" fmla="val 3784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933" y="3639312"/>
            <a:ext cx="34747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12648" y="4078224"/>
            <a:ext cx="18860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12648" y="4370832"/>
            <a:ext cx="188604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7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 d'une PSSI documentée : rôles, responsabilités, chartes</a:t>
            </a:r>
            <a:endParaRPr lang="en-US" sz="870" dirty="0"/>
          </a:p>
        </p:txBody>
      </p:sp>
      <p:sp>
        <p:nvSpPr>
          <p:cNvPr id="22" name="Shape 19"/>
          <p:cNvSpPr/>
          <p:nvPr/>
        </p:nvSpPr>
        <p:spPr>
          <a:xfrm>
            <a:off x="2773009" y="3456432"/>
            <a:ext cx="2105497" cy="1691640"/>
          </a:xfrm>
          <a:prstGeom prst="roundRect">
            <a:avLst>
              <a:gd name="adj" fmla="val 3784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2022" y="3639312"/>
            <a:ext cx="347472" cy="34747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2882737" y="4078224"/>
            <a:ext cx="18860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Vulnérabilités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2882737" y="4370832"/>
            <a:ext cx="188604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7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Balayage automatisé corrélé CVE en continu</a:t>
            </a:r>
            <a:endParaRPr lang="en-US" sz="870" dirty="0"/>
          </a:p>
        </p:txBody>
      </p:sp>
      <p:sp>
        <p:nvSpPr>
          <p:cNvPr id="26" name="Shape 22"/>
          <p:cNvSpPr/>
          <p:nvPr/>
        </p:nvSpPr>
        <p:spPr>
          <a:xfrm>
            <a:off x="5043099" y="3456432"/>
            <a:ext cx="2105497" cy="1691640"/>
          </a:xfrm>
          <a:prstGeom prst="roundRect">
            <a:avLst>
              <a:gd name="adj" fmla="val 3784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2112" y="3639312"/>
            <a:ext cx="347472" cy="34747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152827" y="4078224"/>
            <a:ext cx="18860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Continuité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5152827" y="4370832"/>
            <a:ext cx="188604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7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Industrialisation des sauvegardes chiffrées et testées</a:t>
            </a:r>
            <a:endParaRPr lang="en-US" sz="870" dirty="0"/>
          </a:p>
        </p:txBody>
      </p:sp>
      <p:sp>
        <p:nvSpPr>
          <p:cNvPr id="30" name="Shape 25"/>
          <p:cNvSpPr/>
          <p:nvPr/>
        </p:nvSpPr>
        <p:spPr>
          <a:xfrm>
            <a:off x="7313188" y="3456432"/>
            <a:ext cx="2105497" cy="1691640"/>
          </a:xfrm>
          <a:prstGeom prst="roundRect">
            <a:avLst>
              <a:gd name="adj" fmla="val 3784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2201" y="3639312"/>
            <a:ext cx="347472" cy="34747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422916" y="4078224"/>
            <a:ext cx="18860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des accès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7422916" y="4370832"/>
            <a:ext cx="188604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7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obligatoire sur Proxmox et pfSense</a:t>
            </a:r>
            <a:endParaRPr lang="en-US" sz="870" dirty="0"/>
          </a:p>
        </p:txBody>
      </p:sp>
      <p:sp>
        <p:nvSpPr>
          <p:cNvPr id="34" name="Shape 28"/>
          <p:cNvSpPr/>
          <p:nvPr/>
        </p:nvSpPr>
        <p:spPr>
          <a:xfrm>
            <a:off x="9583278" y="3456432"/>
            <a:ext cx="2105497" cy="1691640"/>
          </a:xfrm>
          <a:prstGeom prst="roundRect">
            <a:avLst>
              <a:gd name="adj" fmla="val 3784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2290" y="3639312"/>
            <a:ext cx="347472" cy="34747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693006" y="4078224"/>
            <a:ext cx="18860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9693006" y="4370832"/>
            <a:ext cx="188604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7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 externe par Red Team indépendante</a:t>
            </a:r>
            <a:endParaRPr lang="en-US" sz="87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828800"/>
            <a:ext cx="5943600" cy="59436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114800"/>
            <a:ext cx="5029200" cy="5029200"/>
          </a:xfrm>
          <a:prstGeom prst="ellipse">
            <a:avLst/>
          </a:prstGeom>
          <a:solidFill>
            <a:srgbClr val="22D3C9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des compétences démontrées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11185855" cy="1965960"/>
          </a:xfrm>
          <a:prstGeom prst="roundRect">
            <a:avLst>
              <a:gd name="adj" fmla="val 3721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202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874520"/>
            <a:ext cx="99514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expérience a représenté un tournant majeur dans ma formation : </a:t>
            </a:r>
            <a:r>
              <a:rPr lang="en-US" sz="13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transition d'environnements locaux VMware vers un déploiement en production réelle sur serveur Hetzner/Proxmox m'a confronté aux contraintes concrètes des infrastructures exposées — gestion de la sécurité périmétrique, résolution d'incidents en conditions réelles (Keepalived, Squid, iptables), et rigueur indispensable de la documentation.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3840480"/>
            <a:ext cx="11185855" cy="1325880"/>
          </a:xfrm>
          <a:prstGeom prst="roundRect">
            <a:avLst>
              <a:gd name="adj" fmla="val 5517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160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977640"/>
            <a:ext cx="9951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automatismes professionnels — </a:t>
            </a:r>
            <a:r>
              <a:rPr lang="en-US" sz="13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configurations opaques en début de projet (permissions système, règles de filtrage avancées, chaînes iptables) sont devenues des automatismes techniques directement mobilisables en contexte professionnel.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02920" y="544068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22D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 — Je reste disponible pour vos questions.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02920" y="59436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SIDIBE Sâlih  —  Mastère 1 Cybersécurité  —  INGETIS Paris  —  Soutenance du 30 juin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2032</Words>
  <Application>Microsoft Office PowerPoint</Application>
  <PresentationFormat>Grand écran</PresentationFormat>
  <Paragraphs>355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ECOTRACK — BC2 Soutenance</dc:title>
  <dc:subject>PptxGenJS Presentation</dc:subject>
  <dc:creator>SIDIBE Sâlih</dc:creator>
  <cp:lastModifiedBy>Sidi_ ama</cp:lastModifiedBy>
  <cp:revision>34</cp:revision>
  <dcterms:created xsi:type="dcterms:W3CDTF">2026-06-28T18:59:42Z</dcterms:created>
  <dcterms:modified xsi:type="dcterms:W3CDTF">2026-06-30T09:48:41Z</dcterms:modified>
</cp:coreProperties>
</file>