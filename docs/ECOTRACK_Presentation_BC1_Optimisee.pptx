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83" r:id="rId4"/>
    <p:sldId id="258" r:id="rId5"/>
    <p:sldId id="259" r:id="rId6"/>
    <p:sldId id="276" r:id="rId7"/>
    <p:sldId id="260" r:id="rId8"/>
    <p:sldId id="261" r:id="rId9"/>
    <p:sldId id="262" r:id="rId10"/>
    <p:sldId id="277" r:id="rId11"/>
    <p:sldId id="263" r:id="rId12"/>
    <p:sldId id="264" r:id="rId13"/>
    <p:sldId id="278" r:id="rId14"/>
    <p:sldId id="265" r:id="rId15"/>
    <p:sldId id="266" r:id="rId16"/>
    <p:sldId id="279" r:id="rId17"/>
    <p:sldId id="267" r:id="rId18"/>
    <p:sldId id="268" r:id="rId19"/>
    <p:sldId id="280" r:id="rId20"/>
    <p:sldId id="269" r:id="rId21"/>
    <p:sldId id="270" r:id="rId22"/>
    <p:sldId id="281" r:id="rId23"/>
    <p:sldId id="271" r:id="rId24"/>
    <p:sldId id="272" r:id="rId25"/>
    <p:sldId id="282" r:id="rId26"/>
    <p:sldId id="273" r:id="rId27"/>
    <p:sldId id="274" r:id="rId28"/>
    <p:sldId id="284" r:id="rId29"/>
    <p:sldId id="275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9647" autoAdjust="0"/>
  </p:normalViewPr>
  <p:slideViewPr>
    <p:cSldViewPr snapToGrid="0" snapToObjects="1">
      <p:cViewPr varScale="1">
        <p:scale>
          <a:sx n="70" d="100"/>
          <a:sy n="70" d="100"/>
        </p:scale>
        <p:origin x="1123" y="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314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1506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3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 b="1" dirty="0"/>
              <a:t>TLS </a:t>
            </a:r>
            <a:r>
              <a:rPr lang="en-US" sz="3200" b="1" dirty="0" err="1"/>
              <a:t>est</a:t>
            </a:r>
            <a:r>
              <a:rPr lang="en-US" sz="3200" b="1" dirty="0"/>
              <a:t> un </a:t>
            </a:r>
            <a:r>
              <a:rPr lang="en-US" sz="3200" b="1" dirty="0" err="1"/>
              <a:t>protocole</a:t>
            </a:r>
            <a:r>
              <a:rPr lang="en-US" sz="3200" b="1" dirty="0"/>
              <a:t> de </a:t>
            </a:r>
            <a:r>
              <a:rPr lang="en-US" sz="3200" b="1" dirty="0" err="1"/>
              <a:t>sécurité</a:t>
            </a:r>
            <a:r>
              <a:rPr lang="en-US" sz="3200" b="1" dirty="0"/>
              <a:t> qui </a:t>
            </a:r>
            <a:r>
              <a:rPr lang="en-US" sz="3200" b="1" dirty="0" err="1"/>
              <a:t>protège</a:t>
            </a:r>
            <a:r>
              <a:rPr lang="en-US" sz="3200" b="1" dirty="0"/>
              <a:t> les communications entre un client et un </a:t>
            </a:r>
            <a:r>
              <a:rPr lang="en-US" sz="3200" b="1" dirty="0" err="1"/>
              <a:t>serveur</a:t>
            </a:r>
            <a:endParaRPr lang="en-US" sz="3200" b="1" dirty="0"/>
          </a:p>
          <a:p>
            <a:r>
              <a:rPr lang="en-US" sz="3200" b="1" dirty="0"/>
              <a:t>AES </a:t>
            </a:r>
            <a:r>
              <a:rPr lang="en-US" sz="3200" b="1" dirty="0" err="1"/>
              <a:t>est</a:t>
            </a:r>
            <a:r>
              <a:rPr lang="en-US" sz="3200" b="1" dirty="0"/>
              <a:t> un </a:t>
            </a:r>
            <a:r>
              <a:rPr lang="en-US" sz="3200" b="1" dirty="0" err="1"/>
              <a:t>algorithme</a:t>
            </a:r>
            <a:r>
              <a:rPr lang="en-US" sz="3200" b="1" dirty="0"/>
              <a:t> de </a:t>
            </a:r>
            <a:r>
              <a:rPr lang="en-US" sz="3200" b="1" dirty="0" err="1"/>
              <a:t>chiffrement</a:t>
            </a:r>
            <a:r>
              <a:rPr lang="en-US" sz="3200" b="1" dirty="0"/>
              <a:t> </a:t>
            </a:r>
            <a:r>
              <a:rPr lang="en-US" sz="3200" b="1" dirty="0" err="1"/>
              <a:t>sysmétrique</a:t>
            </a:r>
            <a:r>
              <a:rPr lang="en-US" sz="3200" b="1" dirty="0"/>
              <a:t> </a:t>
            </a:r>
            <a:r>
              <a:rPr lang="en-US" sz="3200" b="1" dirty="0" err="1"/>
              <a:t>utilisé</a:t>
            </a:r>
            <a:r>
              <a:rPr lang="en-US" sz="3200" b="1" dirty="0"/>
              <a:t> pour </a:t>
            </a:r>
            <a:r>
              <a:rPr lang="en-US" sz="3200" b="1" dirty="0" err="1"/>
              <a:t>chiffré</a:t>
            </a:r>
            <a:r>
              <a:rPr lang="en-US" sz="3200" b="1" dirty="0"/>
              <a:t> de </a:t>
            </a:r>
            <a:r>
              <a:rPr lang="en-US" sz="3200" b="1" dirty="0" err="1"/>
              <a:t>grnade</a:t>
            </a:r>
            <a:r>
              <a:rPr lang="en-US" sz="3200" b="1" dirty="0"/>
              <a:t> </a:t>
            </a:r>
            <a:r>
              <a:rPr lang="en-US" sz="3200" b="1" dirty="0" err="1"/>
              <a:t>quantité</a:t>
            </a:r>
            <a:r>
              <a:rPr lang="en-US" sz="3200" b="1" dirty="0"/>
              <a:t> de </a:t>
            </a:r>
            <a:r>
              <a:rPr lang="en-US" sz="3200" b="1" dirty="0" err="1"/>
              <a:t>donné</a:t>
            </a:r>
            <a:endParaRPr lang="en-US" sz="3200" b="1" dirty="0"/>
          </a:p>
          <a:p>
            <a:r>
              <a:rPr lang="en-US" sz="3200" b="1" dirty="0"/>
              <a:t>RSA </a:t>
            </a:r>
            <a:r>
              <a:rPr lang="en-US" sz="3200" b="1" dirty="0" err="1"/>
              <a:t>est</a:t>
            </a:r>
            <a:r>
              <a:rPr lang="en-US" sz="3200" b="1" dirty="0"/>
              <a:t> un </a:t>
            </a:r>
            <a:r>
              <a:rPr lang="en-US" sz="3200" b="1" dirty="0" err="1"/>
              <a:t>algorthme</a:t>
            </a:r>
            <a:r>
              <a:rPr lang="en-US" sz="3200" b="1" dirty="0"/>
              <a:t> de </a:t>
            </a:r>
            <a:r>
              <a:rPr lang="en-US" sz="3200" b="1" dirty="0" err="1"/>
              <a:t>cryptographie</a:t>
            </a:r>
            <a:r>
              <a:rPr lang="en-US" sz="3200" b="1" dirty="0"/>
              <a:t> </a:t>
            </a:r>
            <a:r>
              <a:rPr lang="en-US" sz="3200" b="1" dirty="0" err="1"/>
              <a:t>asymétrique</a:t>
            </a:r>
            <a:r>
              <a:rPr lang="en-US" sz="3200" b="1" dirty="0"/>
              <a:t> </a:t>
            </a:r>
            <a:r>
              <a:rPr lang="en-US" sz="3200" b="1" dirty="0" err="1"/>
              <a:t>utilisant</a:t>
            </a:r>
            <a:r>
              <a:rPr lang="en-US" sz="3200" b="1" dirty="0"/>
              <a:t> </a:t>
            </a:r>
            <a:r>
              <a:rPr lang="en-US" sz="3200" b="1" dirty="0" err="1"/>
              <a:t>une</a:t>
            </a:r>
            <a:r>
              <a:rPr lang="en-US" sz="3200" b="1" dirty="0"/>
              <a:t> </a:t>
            </a:r>
            <a:r>
              <a:rPr lang="en-US" sz="3200" b="1" dirty="0" err="1"/>
              <a:t>paire</a:t>
            </a:r>
            <a:r>
              <a:rPr lang="en-US" sz="3200" b="1" dirty="0"/>
              <a:t> de </a:t>
            </a:r>
            <a:r>
              <a:rPr lang="en-US" sz="3200" b="1" dirty="0" err="1"/>
              <a:t>clé</a:t>
            </a:r>
            <a:r>
              <a:rPr lang="en-US" sz="3200" b="1" dirty="0"/>
              <a:t> à savoir public et </a:t>
            </a:r>
            <a:r>
              <a:rPr lang="en-US" sz="3200" b="1" dirty="0" err="1"/>
              <a:t>privée</a:t>
            </a:r>
            <a:endParaRPr lang="en-US" sz="32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3986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819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141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b="1" dirty="0"/>
              <a:t>Agile Scrum </a:t>
            </a:r>
            <a:r>
              <a:rPr lang="en-US" sz="2000" b="1" dirty="0" err="1"/>
              <a:t>est</a:t>
            </a:r>
            <a:r>
              <a:rPr lang="en-US" sz="2000" b="1" dirty="0"/>
              <a:t> </a:t>
            </a:r>
            <a:r>
              <a:rPr lang="en-US" sz="2000" b="1" dirty="0" err="1"/>
              <a:t>une</a:t>
            </a:r>
            <a:r>
              <a:rPr lang="en-US" sz="2000" b="1" dirty="0"/>
              <a:t> </a:t>
            </a:r>
            <a:r>
              <a:rPr lang="en-US" sz="2000" b="1" dirty="0" err="1"/>
              <a:t>methode</a:t>
            </a:r>
            <a:r>
              <a:rPr lang="en-US" sz="2000" b="1" dirty="0"/>
              <a:t> de travail organizer </a:t>
            </a:r>
            <a:r>
              <a:rPr lang="en-US" sz="2000" b="1" dirty="0" err="1"/>
              <a:t>assez</a:t>
            </a:r>
            <a:r>
              <a:rPr lang="en-US" sz="2000" b="1" dirty="0"/>
              <a:t> court </a:t>
            </a:r>
            <a:r>
              <a:rPr lang="en-US" sz="2000" b="1" dirty="0" err="1"/>
              <a:t>allant</a:t>
            </a:r>
            <a:r>
              <a:rPr lang="en-US" sz="2000" b="1" dirty="0"/>
              <a:t> </a:t>
            </a:r>
            <a:r>
              <a:rPr lang="en-US" sz="2000" b="1" dirty="0" err="1"/>
              <a:t>d’une</a:t>
            </a:r>
            <a:r>
              <a:rPr lang="en-US" sz="2000" b="1" dirty="0"/>
              <a:t> à 4sémaine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0322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Risques</a:t>
            </a:r>
            <a:r>
              <a:rPr lang="en-US" dirty="0"/>
              <a:t>, </a:t>
            </a:r>
            <a:r>
              <a:rPr lang="en-US" dirty="0" err="1"/>
              <a:t>Probabilité</a:t>
            </a:r>
            <a:r>
              <a:rPr lang="en-US" dirty="0"/>
              <a:t>, Impact, </a:t>
            </a:r>
            <a:r>
              <a:rPr lang="en-US" dirty="0" err="1"/>
              <a:t>Mésure</a:t>
            </a:r>
            <a:r>
              <a:rPr lang="en-US" dirty="0"/>
              <a:t> mis </a:t>
            </a:r>
            <a:r>
              <a:rPr lang="en-US" dirty="0" err="1"/>
              <a:t>en</a:t>
            </a:r>
            <a:r>
              <a:rPr lang="en-US" dirty="0"/>
              <a:t> place</a:t>
            </a:r>
          </a:p>
          <a:p>
            <a:r>
              <a:rPr lang="en-US" dirty="0"/>
              <a:t>RTO temps maximal acceptable et RPO </a:t>
            </a:r>
            <a:r>
              <a:rPr lang="en-US" dirty="0" err="1"/>
              <a:t>quantité</a:t>
            </a:r>
            <a:r>
              <a:rPr lang="en-US" dirty="0"/>
              <a:t> maximal de </a:t>
            </a:r>
            <a:r>
              <a:rPr lang="en-US" dirty="0" err="1"/>
              <a:t>donné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0074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MTTR </a:t>
            </a:r>
            <a:r>
              <a:rPr lang="en-US" dirty="0" err="1"/>
              <a:t>est</a:t>
            </a:r>
            <a:r>
              <a:rPr lang="en-US" dirty="0"/>
              <a:t> le temps </a:t>
            </a:r>
            <a:r>
              <a:rPr lang="en-US" dirty="0" err="1"/>
              <a:t>moyen</a:t>
            </a:r>
            <a:r>
              <a:rPr lang="en-US" dirty="0"/>
              <a:t> de reparation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6058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16319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5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17.png"/><Relationship Id="rId5" Type="http://schemas.openxmlformats.org/officeDocument/2006/relationships/image" Target="../media/image29.png"/><Relationship Id="rId10" Type="http://schemas.openxmlformats.org/officeDocument/2006/relationships/image" Target="../media/image14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40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19.png"/><Relationship Id="rId4" Type="http://schemas.openxmlformats.org/officeDocument/2006/relationships/image" Target="../media/image41.png"/><Relationship Id="rId9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32303" y="-4147532"/>
            <a:ext cx="6400800" cy="6400800"/>
          </a:xfrm>
          <a:prstGeom prst="ellipse">
            <a:avLst/>
          </a:prstGeom>
          <a:solidFill>
            <a:srgbClr val="22D3C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34D399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INGETIS — ÉCOLE D'INGÉNIERIE INFORMATIQUE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143000"/>
            <a:ext cx="868680" cy="329184"/>
          </a:xfrm>
          <a:prstGeom prst="roundRect">
            <a:avLst>
              <a:gd name="adj" fmla="val 41667"/>
            </a:avLst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430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54480" y="11430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et organiser un projet d'architecture systèmes et réseaux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ECOTRACK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502920" y="278892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Intelligent de Gestion des Déchets Urbains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IoT &amp; Cybersécurité pour la Smart City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alphaModFix amt="94000"/>
          </a:blip>
          <a:stretch>
            <a:fillRect/>
          </a:stretch>
        </p:blipFill>
        <p:spPr>
          <a:xfrm>
            <a:off x="9784080" y="1828800"/>
            <a:ext cx="1737360" cy="1737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02920" y="3977640"/>
            <a:ext cx="11185855" cy="2057400"/>
          </a:xfrm>
          <a:prstGeom prst="roundRect">
            <a:avLst>
              <a:gd name="adj" fmla="val 355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68680" y="4251960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68680" y="4553712"/>
            <a:ext cx="243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SIDIBE Sâlih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253960" y="4220747"/>
            <a:ext cx="2430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SPÉCIALITÉ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133888" y="4553712"/>
            <a:ext cx="243070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Mastère 1 — Expert en Architecture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Systèmes, Réseaux et Sécurité Informatique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9536392" y="4225477"/>
            <a:ext cx="177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DE SOUTENANCE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646920" y="4495268"/>
            <a:ext cx="1676400" cy="440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juin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présentation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présentation s'articule en 7 parties, de l'analyse des besoins jusqu'à la conformité réglementaire.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27632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93951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746504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1371600" y="2011680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problématique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96432" y="1627632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7600" y="1893951"/>
            <a:ext cx="493776" cy="49377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65112" y="1746504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065112" y="2011680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 l'environnement et des besoins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502920" y="2855214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21533"/>
            <a:ext cx="493776" cy="49377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2974086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1371600" y="3239262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 technologique et choix raisonnés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96432" y="2855214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7600" y="3121533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65112" y="2974086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065112" y="3239262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cible et topologie réseau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502920" y="4082796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349115"/>
            <a:ext cx="493776" cy="49377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4201668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</a:t>
            </a:r>
            <a:endParaRPr lang="en-US" sz="1050" dirty="0"/>
          </a:p>
        </p:txBody>
      </p:sp>
      <p:sp>
        <p:nvSpPr>
          <p:cNvPr id="27" name="Text 20"/>
          <p:cNvSpPr/>
          <p:nvPr/>
        </p:nvSpPr>
        <p:spPr>
          <a:xfrm>
            <a:off x="1371600" y="4466844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du projet — méthode Agile Scrum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196432" y="4082796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97600" y="4349115"/>
            <a:ext cx="493776" cy="49377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065112" y="4201668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7065112" y="4466844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initial et gestion des risques</a:t>
            </a:r>
            <a:endParaRPr lang="en-US" sz="1250" dirty="0"/>
          </a:p>
        </p:txBody>
      </p:sp>
      <p:sp>
        <p:nvSpPr>
          <p:cNvPr id="32" name="Shape 24"/>
          <p:cNvSpPr/>
          <p:nvPr/>
        </p:nvSpPr>
        <p:spPr>
          <a:xfrm>
            <a:off x="502920" y="5310378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4088" y="5576697"/>
            <a:ext cx="493776" cy="49377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371600" y="5429250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</a:t>
            </a:r>
            <a:endParaRPr lang="en-US" sz="1050" dirty="0"/>
          </a:p>
        </p:txBody>
      </p:sp>
      <p:sp>
        <p:nvSpPr>
          <p:cNvPr id="35" name="Text 26"/>
          <p:cNvSpPr/>
          <p:nvPr/>
        </p:nvSpPr>
        <p:spPr>
          <a:xfrm>
            <a:off x="1371600" y="5694426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déploiement et modélisation BPMN</a:t>
            </a:r>
            <a:endParaRPr lang="en-US" sz="1250" dirty="0"/>
          </a:p>
        </p:txBody>
      </p:sp>
      <p:sp>
        <p:nvSpPr>
          <p:cNvPr id="36" name="Shape 27"/>
          <p:cNvSpPr/>
          <p:nvPr/>
        </p:nvSpPr>
        <p:spPr>
          <a:xfrm>
            <a:off x="6196432" y="5310378"/>
            <a:ext cx="5492344" cy="1026414"/>
          </a:xfrm>
          <a:prstGeom prst="roundRect">
            <a:avLst>
              <a:gd name="adj" fmla="val 62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97600" y="5576697"/>
            <a:ext cx="493776" cy="49377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065112" y="5429250"/>
            <a:ext cx="448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</a:t>
            </a:r>
            <a:endParaRPr lang="en-US" sz="1050" dirty="0"/>
          </a:p>
        </p:txBody>
      </p:sp>
      <p:sp>
        <p:nvSpPr>
          <p:cNvPr id="39" name="Text 29"/>
          <p:cNvSpPr/>
          <p:nvPr/>
        </p:nvSpPr>
        <p:spPr>
          <a:xfrm>
            <a:off x="7065112" y="5694426"/>
            <a:ext cx="4440784" cy="5234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réglementaire, gouvernance SI, éco-conception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209725" y="2456107"/>
            <a:ext cx="1207175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60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 — </a:t>
            </a:r>
            <a:r>
              <a:rPr lang="en-US" sz="6000" b="1" i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Contexte et problématique</a:t>
            </a:r>
            <a:endParaRPr lang="en-US" sz="60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39738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problématique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constat de départ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62763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métropoles contemporaines font face à trois défis structurels dans la gestion de leurs déchets urbains 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3545738" cy="1874520"/>
          </a:xfrm>
          <a:prstGeom prst="roundRect">
            <a:avLst>
              <a:gd name="adj" fmla="val 390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450592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03580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empirique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77240" y="342900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Tournées fixes indépendantes du taux de remplissage des conteneurs, générant des trajets inutiles.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2978" y="2194560"/>
            <a:ext cx="3545738" cy="1874520"/>
          </a:xfrm>
          <a:prstGeom prst="roundRect">
            <a:avLst>
              <a:gd name="adj" fmla="val 390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98" y="2450592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597298" y="303580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Surcoûts opérationnels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97298" y="342900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Carburant, main-d'œuvre et maintenance précoce des bennes pèsent sur le budget municipal.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43037" y="2194560"/>
            <a:ext cx="3545738" cy="1874520"/>
          </a:xfrm>
          <a:prstGeom prst="roundRect">
            <a:avLst>
              <a:gd name="adj" fmla="val 390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7357" y="2450592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417357" y="3035808"/>
            <a:ext cx="29970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de données temps réel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417357" y="3429000"/>
            <a:ext cx="29970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pilotage décisionnel possible : la gestion se fait à l'aveugle, sans visibilité opérationnelle.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02920" y="4343400"/>
            <a:ext cx="11185855" cy="1417320"/>
          </a:xfrm>
          <a:prstGeom prst="roundRect">
            <a:avLst>
              <a:gd name="adj" fmla="val 5161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754880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54480" y="4526280"/>
            <a:ext cx="98142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défis structurels — </a:t>
            </a: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gestion empirique, coûteuse et sans visibilité, qui appelle une refonte technologique complète de la chaîne de collecte.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réponse : ECOTRACK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</a:t>
            </a: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 une plateforme industrielle unifiée combinant </a:t>
            </a:r>
            <a:r>
              <a:rPr lang="en-US" sz="15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5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réseau segmentée</a:t>
            </a: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5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native</a:t>
            </a:r>
            <a:r>
              <a:rPr lang="en-US" sz="15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déployée sur un serveur dédié Hetzner (Debian 12 / Proxmox VE) pour superviser en temps réel les conteneurs.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02920" y="251460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770632"/>
            <a:ext cx="566928" cy="566928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288036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77240" y="34290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374904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2 000 capteurs connectés en temps réel via le protocole MQTT pour mesurer le remplissage des conteneurs.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22978" y="251460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97298" y="2770632"/>
            <a:ext cx="566928" cy="566928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7026" y="288036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97298" y="34290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segmenté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4597298" y="374904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zones étanches (WAN, DMZ, Applicatif, Management, IoT) appliquant le principe de défense en profondeur.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8143037" y="2514600"/>
            <a:ext cx="354573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17357" y="2770632"/>
            <a:ext cx="566928" cy="566928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085" y="288036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417357" y="3429000"/>
            <a:ext cx="29970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Cybersécurité native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8417357" y="3749040"/>
            <a:ext cx="29970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: chiffrement de bout en bout, contrôle d'accès strict, supervision SIEM continue.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502920" y="4709160"/>
            <a:ext cx="11185855" cy="1325880"/>
          </a:xfrm>
          <a:prstGeom prst="roundRect">
            <a:avLst>
              <a:gd name="adj" fmla="val 5517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12064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489204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cible — </a:t>
            </a:r>
            <a:r>
              <a:rPr lang="en-US" sz="14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AX41-NVMe  ·  Debian 12  ·  Proxmox VE  ·  Supervision temps réel inférieure à 2 secondes.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209725" y="2456107"/>
            <a:ext cx="120717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1 — ANALYSE DE L'ENVIRONNEMENT ET DES BESOINS</a:t>
            </a:r>
            <a:endParaRPr lang="en-US" sz="4400" b="1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80262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ANALYSE DE L'ENVIRONNEMENT ET DES BESOINS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 — Formalisation des besoins du 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L'analyse de faisabilité technique a permis de quantifier précisément les exigences de la plateforme selon trois axes :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3545738" cy="3931920"/>
          </a:xfrm>
          <a:prstGeom prst="roundRect">
            <a:avLst>
              <a:gd name="adj" fmla="val 206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2103120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" y="2633472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2907792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 M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795528" y="358444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annuelles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95528" y="4114800"/>
            <a:ext cx="2960522" cy="0"/>
          </a:xfrm>
          <a:prstGeom prst="line">
            <a:avLst/>
          </a:prstGeom>
          <a:noFill/>
          <a:ln w="12700">
            <a:solidFill>
              <a:srgbClr val="20335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95528" y="4251960"/>
            <a:ext cx="29605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Générées par 2 000 capteurs IoT, avec une latence d'ingestion MQTT inférieure à 2 secondes par trame.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978" y="1828800"/>
            <a:ext cx="3545738" cy="3931920"/>
          </a:xfrm>
          <a:prstGeom prst="roundRect">
            <a:avLst>
              <a:gd name="adj" fmla="val 206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5586" y="2103120"/>
            <a:ext cx="420624" cy="4206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15586" y="2633472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597298" y="2907792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99,5 %</a:t>
            </a:r>
            <a:endParaRPr lang="en-US" sz="3800" dirty="0"/>
          </a:p>
        </p:txBody>
      </p:sp>
      <p:sp>
        <p:nvSpPr>
          <p:cNvPr id="19" name="Text 15"/>
          <p:cNvSpPr/>
          <p:nvPr/>
        </p:nvSpPr>
        <p:spPr>
          <a:xfrm>
            <a:off x="4615586" y="358444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temps de fonctionnement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15586" y="4114800"/>
            <a:ext cx="2960522" cy="0"/>
          </a:xfrm>
          <a:prstGeom prst="line">
            <a:avLst/>
          </a:prstGeom>
          <a:noFill/>
          <a:ln w="12700">
            <a:solidFill>
              <a:srgbClr val="20335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15586" y="4251960"/>
            <a:ext cx="29605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Soit moins de 44h d'indisponibilité/an, garanti par HAProxy actif/passif et réplication PostgreSQL synchrone.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8143037" y="1828800"/>
            <a:ext cx="3545738" cy="3931920"/>
          </a:xfrm>
          <a:prstGeom prst="roundRect">
            <a:avLst>
              <a:gd name="adj" fmla="val 206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5645" y="2103120"/>
            <a:ext cx="420624" cy="42062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35645" y="2633472"/>
            <a:ext cx="29970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8417357" y="2907792"/>
            <a:ext cx="29970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6" name="Text 21"/>
          <p:cNvSpPr/>
          <p:nvPr/>
        </p:nvSpPr>
        <p:spPr>
          <a:xfrm>
            <a:off x="8435645" y="3584448"/>
            <a:ext cx="29970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réseau étanches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8435645" y="4114800"/>
            <a:ext cx="2960522" cy="0"/>
          </a:xfrm>
          <a:prstGeom prst="line">
            <a:avLst/>
          </a:prstGeom>
          <a:noFill/>
          <a:ln w="12700">
            <a:solidFill>
              <a:srgbClr val="20335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435645" y="4251960"/>
            <a:ext cx="296052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by Design : chiffrement TLS 1.3 / AES-256 / RSA 2048, segmentation stricte, contrôle d'accès complet.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ANALYSE DE L'ENVIRONNEMENT ET DES BESOINS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 — Cartographie de l'environnement technique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L'infrastructure ECOTRACK est déployée sur un serveur dédié depuis lequel cinq bridges réseau virtuels isolent les flux.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828800"/>
            <a:ext cx="5120640" cy="1417320"/>
          </a:xfrm>
          <a:prstGeom prst="roundRect">
            <a:avLst>
              <a:gd name="adj" fmla="val 516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75688"/>
            <a:ext cx="420624" cy="42062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99339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Serveur physique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371600" y="228600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Hetzner AX41-NVMe — Debian 12, </a:t>
            </a:r>
            <a:r>
              <a:rPr lang="en-US" sz="125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3383280"/>
            <a:ext cx="5120640" cy="1691640"/>
          </a:xfrm>
          <a:prstGeom prst="roundRect">
            <a:avLst>
              <a:gd name="adj" fmla="val 432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3016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547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— 8 VMs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371600" y="384048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rôle dédié par machine : proxy, base de données, SIEM, monitoring, IoT broker, site web.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943600" y="1828800"/>
            <a:ext cx="5745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RÉSEAUX VIRTUELS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943600" y="2121408"/>
            <a:ext cx="5745175" cy="484632"/>
          </a:xfrm>
          <a:prstGeom prst="roundRect">
            <a:avLst>
              <a:gd name="adj" fmla="val 113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6172200" y="2121408"/>
            <a:ext cx="28725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5943600" y="2121408"/>
            <a:ext cx="5516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10.0.0.0/24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5943600" y="2679192"/>
            <a:ext cx="5745175" cy="484632"/>
          </a:xfrm>
          <a:prstGeom prst="roundRect">
            <a:avLst>
              <a:gd name="adj" fmla="val 113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172200" y="2679192"/>
            <a:ext cx="28725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5943600" y="2679192"/>
            <a:ext cx="5516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10.10.1.0/24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5943600" y="3236976"/>
            <a:ext cx="5745175" cy="484632"/>
          </a:xfrm>
          <a:prstGeom prst="roundRect">
            <a:avLst>
              <a:gd name="adj" fmla="val 113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Text 20"/>
          <p:cNvSpPr/>
          <p:nvPr/>
        </p:nvSpPr>
        <p:spPr>
          <a:xfrm>
            <a:off x="6172200" y="3236976"/>
            <a:ext cx="28725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APPLICATIF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5943600" y="3236976"/>
            <a:ext cx="5516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10.10.2.0/24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943600" y="3794760"/>
            <a:ext cx="5745175" cy="484632"/>
          </a:xfrm>
          <a:prstGeom prst="roundRect">
            <a:avLst>
              <a:gd name="adj" fmla="val 113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3"/>
          <p:cNvSpPr/>
          <p:nvPr/>
        </p:nvSpPr>
        <p:spPr>
          <a:xfrm>
            <a:off x="6172200" y="3794760"/>
            <a:ext cx="28725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5943600" y="3794760"/>
            <a:ext cx="5516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10.10.3.0/24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5943600" y="4352544"/>
            <a:ext cx="5745175" cy="484632"/>
          </a:xfrm>
          <a:prstGeom prst="roundRect">
            <a:avLst>
              <a:gd name="adj" fmla="val 113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Text 26"/>
          <p:cNvSpPr/>
          <p:nvPr/>
        </p:nvSpPr>
        <p:spPr>
          <a:xfrm>
            <a:off x="6172200" y="4352544"/>
            <a:ext cx="2872588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5943600" y="4352544"/>
            <a:ext cx="5516575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10.10.4.0/24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02920" y="5138928"/>
            <a:ext cx="11185855" cy="987552"/>
          </a:xfrm>
          <a:prstGeom prst="roundRect">
            <a:avLst>
              <a:gd name="adj" fmla="val 7407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376672"/>
            <a:ext cx="420624" cy="42062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1371600" y="5212080"/>
            <a:ext cx="99971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totale des flux — </a:t>
            </a: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bridge réseau cloisonne un usage métier, empêchant toute communication directe non autorisée entre zones.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 — ANALYSE DE L'ENVIRONNEMENT ET DES BESOINS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1.3 — Contraintes réglementaires identifiées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45576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3619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81328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25880" y="1755648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Règlement Général sur la Protection des Données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77240" y="214884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 des données collectées (état du conteneur uniquement), chiffrement au repos et en transit, droit à l'effacement documenté et automatisé.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3008" y="1280160"/>
            <a:ext cx="545576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1536192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55968" y="1481328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ANSSI — RGS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7055968" y="1755648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Général de Sécurité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507328" y="214884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de durcissement système, recommandations sur l'authentification multifacteur, référentiel IoT dédié.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02920" y="3429000"/>
            <a:ext cx="545576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685032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25880" y="3630168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NIS2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25880" y="3904488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Directive sur la sécurité des réseaux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777240" y="429768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identifié comme infrastructure d'importance vitale pour la municipalité : obligations de déclaration d'incident et plan de continuité.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233008" y="3429000"/>
            <a:ext cx="5455768" cy="1920240"/>
          </a:xfrm>
          <a:prstGeom prst="roundRect">
            <a:avLst>
              <a:gd name="adj" fmla="val 381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328" y="3685032"/>
            <a:ext cx="411480" cy="4114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055968" y="3630168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7055968" y="3904488"/>
            <a:ext cx="435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Norme de management de la sécurité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6507328" y="4297680"/>
            <a:ext cx="49071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de la politique de sécurité autour du triptyque Confidentialité – Intégrité – Disponibilité (CIA Triad).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578842" y="2605242"/>
            <a:ext cx="115490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2 — VEILLE TECHNOLOGIQUE ET CHOIX RAISONNÉS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120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VEILLE TECHNOLOGIQUE ET CHOIX RAISONNÉS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2.1 / 2.2 — Méthodologie et comparatifs clés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0637215" y="120700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22D3C9"/>
          </a:solidFill>
          <a:ln/>
        </p:spPr>
      </p:sp>
      <p:sp>
        <p:nvSpPr>
          <p:cNvPr id="8" name="Text 6"/>
          <p:cNvSpPr/>
          <p:nvPr/>
        </p:nvSpPr>
        <p:spPr>
          <a:xfrm>
            <a:off x="10637215" y="12070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C1.5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18872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99032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1280160"/>
            <a:ext cx="99971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de veille — </a:t>
            </a:r>
            <a:r>
              <a:rPr lang="en-US" sz="12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mensuelle des CVE critiques, abonnement aux mailing-lists CERT-FR et Elastic Security, validation systématique en staging avant production.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02920" y="2240280"/>
            <a:ext cx="5455768" cy="3520440"/>
          </a:xfrm>
          <a:prstGeom prst="roundRect">
            <a:avLst>
              <a:gd name="adj" fmla="val 2078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77240" y="24688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777240" y="274320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vs Splunk vs ELK Stack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108960"/>
            <a:ext cx="2377440" cy="310896"/>
          </a:xfrm>
          <a:prstGeom prst="roundRect">
            <a:avLst>
              <a:gd name="adj" fmla="val 44118"/>
            </a:avLst>
          </a:prstGeom>
          <a:solidFill>
            <a:srgbClr val="34D399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 : Wazuh</a:t>
            </a:r>
            <a:endParaRPr lang="en-US" sz="10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61188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88720" y="3566160"/>
            <a:ext cx="449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Combinaison SIEM + HIDS natif, intégration MITRE ATT&amp;CK et VirusTotal CTI, conformité RGPD/PCI native, modèle open-source.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777240" y="4663440"/>
            <a:ext cx="4907128" cy="0"/>
          </a:xfrm>
          <a:prstGeom prst="line">
            <a:avLst/>
          </a:prstGeom>
          <a:noFill/>
          <a:ln w="12700">
            <a:solidFill>
              <a:srgbClr val="203352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84632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88720" y="4800600"/>
            <a:ext cx="449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Splunk : puissant mais coût prohibitif (facturation à la donnée). ELK seul : manque de capacités HIDS.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33008" y="2240280"/>
            <a:ext cx="5455768" cy="3520440"/>
          </a:xfrm>
          <a:prstGeom prst="roundRect">
            <a:avLst>
              <a:gd name="adj" fmla="val 2078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07328" y="246888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507328" y="2743200"/>
            <a:ext cx="4907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vs Snort vs Zeek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507328" y="3108960"/>
            <a:ext cx="2377440" cy="310896"/>
          </a:xfrm>
          <a:prstGeom prst="roundRect">
            <a:avLst>
              <a:gd name="adj" fmla="val 44118"/>
            </a:avLst>
          </a:prstGeom>
          <a:solidFill>
            <a:srgbClr val="34D399"/>
          </a:solidFill>
          <a:ln/>
        </p:spPr>
      </p:sp>
      <p:sp>
        <p:nvSpPr>
          <p:cNvPr id="26" name="Text 21"/>
          <p:cNvSpPr/>
          <p:nvPr/>
        </p:nvSpPr>
        <p:spPr>
          <a:xfrm>
            <a:off x="6507328" y="310896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 : Suricata</a:t>
            </a:r>
            <a:endParaRPr lang="en-US" sz="1050" dirty="0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361188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18808" y="3566160"/>
            <a:ext cx="44956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multi-thread native (hauts débits), mode IPS actif, sortie JSON facilitant l'intégration Wazuh/ELK.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507328" y="4663440"/>
            <a:ext cx="4907128" cy="0"/>
          </a:xfrm>
          <a:prstGeom prst="line">
            <a:avLst/>
          </a:prstGeom>
          <a:noFill/>
          <a:ln w="12700">
            <a:solidFill>
              <a:srgbClr val="203352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4846320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18808" y="4800600"/>
            <a:ext cx="44956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Snort : limité au mono-thread. Zeek : excellent en forensique mais sans blocage actif.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 — VEILLE TECHNOLOGIQUE ET CHOIX RAISONNÉS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 — Stack technologique final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88720"/>
            <a:ext cx="11185855" cy="1051560"/>
          </a:xfrm>
          <a:prstGeom prst="roundRect">
            <a:avLst>
              <a:gd name="adj" fmla="val 6957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2984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— pfSense vs FortiGate vs Cisco ASA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9311335" y="1280160"/>
            <a:ext cx="2103120" cy="292608"/>
          </a:xfrm>
          <a:prstGeom prst="roundRect">
            <a:avLst>
              <a:gd name="adj" fmla="val 46875"/>
            </a:avLst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9311335" y="12801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RETENU : pfSense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1627632"/>
            <a:ext cx="10637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open-source, prise en charge native de Suricata, absence de coût de licence. FortiGate / Cisco ASA : certifiés CSPN ANSSI mais coût élevé, inadapté au contexte open-source souverain.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 RETENU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7889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012948"/>
            <a:ext cx="329184" cy="32918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97280" y="28803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Pare-feu périmètre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097280" y="31181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— filtrage stateful, NAT, ACL, OpenVPN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298594" y="27889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1474" y="3012948"/>
            <a:ext cx="329184" cy="32918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892954" y="28803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IDS/IPS réseau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892954" y="31181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— Emerging Threats, mode IPS inline, EVE JSON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8094269" y="27889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7149" y="3012948"/>
            <a:ext cx="329184" cy="32918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688629" y="28803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688629" y="31181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— agents HIDS, FIM, MITRE ATT&amp;CK, VirusTotal CTI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502920" y="37033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392734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097280" y="37947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applicatif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1097280" y="40325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ModSecurity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4298594" y="37033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1474" y="3927348"/>
            <a:ext cx="329184" cy="3291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892954" y="37947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HA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4892954" y="40325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actif/passif + Keepalived (VIP 10.10.1.100)</a:t>
            </a:r>
            <a:endParaRPr lang="en-US" sz="950" dirty="0"/>
          </a:p>
        </p:txBody>
      </p:sp>
      <p:sp>
        <p:nvSpPr>
          <p:cNvPr id="33" name="Shape 26"/>
          <p:cNvSpPr/>
          <p:nvPr/>
        </p:nvSpPr>
        <p:spPr>
          <a:xfrm>
            <a:off x="8094269" y="37033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77149" y="3927348"/>
            <a:ext cx="329184" cy="329184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688629" y="37947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métriques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688629" y="40325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 → Prometheus → Grafana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502920" y="46177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4841748"/>
            <a:ext cx="329184" cy="329184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1097280" y="47091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logs</a:t>
            </a:r>
            <a:endParaRPr lang="en-US" sz="1100" dirty="0"/>
          </a:p>
        </p:txBody>
      </p:sp>
      <p:sp>
        <p:nvSpPr>
          <p:cNvPr id="40" name="Text 31"/>
          <p:cNvSpPr/>
          <p:nvPr/>
        </p:nvSpPr>
        <p:spPr>
          <a:xfrm>
            <a:off x="1097280" y="49469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Filebeat → Elasticsearch → Kibana</a:t>
            </a:r>
            <a:endParaRPr lang="en-US" sz="950" dirty="0"/>
          </a:p>
        </p:txBody>
      </p:sp>
      <p:sp>
        <p:nvSpPr>
          <p:cNvPr id="41" name="Shape 32"/>
          <p:cNvSpPr/>
          <p:nvPr/>
        </p:nvSpPr>
        <p:spPr>
          <a:xfrm>
            <a:off x="4298594" y="46177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81474" y="4841748"/>
            <a:ext cx="329184" cy="329184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892954" y="47091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IoT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892954" y="49469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</a:t>
            </a:r>
            <a:endParaRPr lang="en-US" sz="950" dirty="0"/>
          </a:p>
        </p:txBody>
      </p:sp>
      <p:sp>
        <p:nvSpPr>
          <p:cNvPr id="45" name="Shape 35"/>
          <p:cNvSpPr/>
          <p:nvPr/>
        </p:nvSpPr>
        <p:spPr>
          <a:xfrm>
            <a:off x="8094269" y="4617720"/>
            <a:ext cx="3594506" cy="777240"/>
          </a:xfrm>
          <a:prstGeom prst="roundRect">
            <a:avLst>
              <a:gd name="adj" fmla="val 705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77149" y="4841748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688629" y="4709160"/>
            <a:ext cx="281726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données</a:t>
            </a:r>
            <a:endParaRPr lang="en-US" sz="1100" dirty="0"/>
          </a:p>
        </p:txBody>
      </p:sp>
      <p:sp>
        <p:nvSpPr>
          <p:cNvPr id="48" name="Text 37"/>
          <p:cNvSpPr/>
          <p:nvPr/>
        </p:nvSpPr>
        <p:spPr>
          <a:xfrm>
            <a:off x="8688629" y="4946904"/>
            <a:ext cx="28172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réplication synchrone + backups 3-2-1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411062" y="2605242"/>
            <a:ext cx="115490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3 — ARCHITECTURE CIBLE ET TOPOLOGIE RÉSEAU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4859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ARCHITECTURE CIBLE ET TOPOLOGIE RÉSEAU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 / 3.2 — Défense en profondeur et zones réseau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couche de l'infrastructure apporte sa propre barrière de protection : une vulnérabilité sur un composant ne compromet pas l'ensemble du système.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1185855" cy="384048"/>
          </a:xfrm>
          <a:prstGeom prst="roundRect">
            <a:avLst>
              <a:gd name="adj" fmla="val 11905"/>
            </a:avLst>
          </a:prstGeom>
          <a:solidFill>
            <a:srgbClr val="1B3252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8308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178308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251960" y="178308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PRINCIPAUX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41080" y="178308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DE SÉCURITÉ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25856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225856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240280" y="225856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10.0.0.0/24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251960" y="225856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(firewall), Suricata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41080" y="243230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F87171"/>
          </a:solidFill>
          <a:ln/>
        </p:spPr>
      </p:sp>
      <p:sp>
        <p:nvSpPr>
          <p:cNvPr id="18" name="Text 16"/>
          <p:cNvSpPr/>
          <p:nvPr/>
        </p:nvSpPr>
        <p:spPr>
          <a:xfrm>
            <a:off x="8641080" y="243230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— filtrage max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303580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03580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40280" y="303580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10.10.1.0/24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51960" y="303580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HA (VIP .100), Nginx Reverse Proxy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41080" y="320954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8641080" y="320954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— filtrage bicéphale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2920" y="381304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" y="381304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APPLICATIF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240280" y="381304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10.10.2.0/24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251960" y="381304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ECOTRACK, PostgreSQL + réplication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641080" y="398678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FBBF24"/>
          </a:solidFill>
          <a:ln/>
        </p:spPr>
      </p:sp>
      <p:sp>
        <p:nvSpPr>
          <p:cNvPr id="30" name="Text 28"/>
          <p:cNvSpPr/>
          <p:nvPr/>
        </p:nvSpPr>
        <p:spPr>
          <a:xfrm>
            <a:off x="8641080" y="398678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 — accès contrôlé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02920" y="459028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85800" y="459028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240280" y="459028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10.10.3.0/24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251960" y="459028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SIEM, Prometheus, Grafana, ELK Stack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641080" y="476402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34D399"/>
          </a:solidFill>
          <a:ln/>
        </p:spPr>
      </p:sp>
      <p:sp>
        <p:nvSpPr>
          <p:cNvPr id="36" name="Text 34"/>
          <p:cNvSpPr/>
          <p:nvPr/>
        </p:nvSpPr>
        <p:spPr>
          <a:xfrm>
            <a:off x="8641080" y="476402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Maximale — VPN + SSH clé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02920" y="5367528"/>
            <a:ext cx="11185855" cy="658368"/>
          </a:xfrm>
          <a:prstGeom prst="roundRect">
            <a:avLst>
              <a:gd name="adj" fmla="val 6944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5800" y="5367528"/>
            <a:ext cx="1280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40280" y="5367528"/>
            <a:ext cx="1737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10.10.4.0/24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251960" y="53675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Mosquitto MQTT Broker, scripts de simulation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641080" y="5541264"/>
            <a:ext cx="2286000" cy="310896"/>
          </a:xfrm>
          <a:prstGeom prst="roundRect">
            <a:avLst>
              <a:gd name="adj" fmla="val 44118"/>
            </a:avLst>
          </a:prstGeom>
          <a:solidFill>
            <a:srgbClr val="22D3C9"/>
          </a:solidFill>
          <a:ln/>
        </p:spPr>
      </p:sp>
      <p:sp>
        <p:nvSpPr>
          <p:cNvPr id="42" name="Text 40"/>
          <p:cNvSpPr/>
          <p:nvPr/>
        </p:nvSpPr>
        <p:spPr>
          <a:xfrm>
            <a:off x="8641080" y="55412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Isolée — protocole dédié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 — ARCHITECTURE CIBLE ET TOPOLOGIE RÉSEAU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 / 3.4 — Chaîne WAF et haute disponibilité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de sécurité d'une requête web entrante — 4 niveaux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2590724" cy="1828800"/>
          </a:xfrm>
          <a:prstGeom prst="roundRect">
            <a:avLst>
              <a:gd name="adj" fmla="val 35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01368"/>
            <a:ext cx="384048" cy="384048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2860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31520" y="2697480"/>
            <a:ext cx="2133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Filtrage stateful, règles NAT/ACL , IPS Suricata inline.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11932" y="2514600"/>
            <a:ext cx="237744" cy="0"/>
          </a:xfrm>
          <a:prstGeom prst="line">
            <a:avLst/>
          </a:prstGeom>
          <a:noFill/>
          <a:ln w="25400">
            <a:solidFill>
              <a:srgbClr val="22D3C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67964" y="1600200"/>
            <a:ext cx="2590724" cy="1828800"/>
          </a:xfrm>
          <a:prstGeom prst="roundRect">
            <a:avLst>
              <a:gd name="adj" fmla="val 35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596564" y="1801368"/>
            <a:ext cx="384048" cy="384048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6" name="Text 14"/>
          <p:cNvSpPr/>
          <p:nvPr/>
        </p:nvSpPr>
        <p:spPr>
          <a:xfrm>
            <a:off x="3596564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596564" y="22860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HA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96564" y="2697480"/>
            <a:ext cx="2133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balancer actif/passif avec Keepalived (VIP .100). Bascule auto &lt; 5 secondes.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76976" y="2514600"/>
            <a:ext cx="237744" cy="0"/>
          </a:xfrm>
          <a:prstGeom prst="line">
            <a:avLst/>
          </a:prstGeom>
          <a:noFill/>
          <a:ln w="25400">
            <a:solidFill>
              <a:srgbClr val="22D3C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233008" y="1600200"/>
            <a:ext cx="2590724" cy="1828800"/>
          </a:xfrm>
          <a:prstGeom prst="roundRect">
            <a:avLst>
              <a:gd name="adj" fmla="val 35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61608" y="1801368"/>
            <a:ext cx="384048" cy="384048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2" name="Text 20"/>
          <p:cNvSpPr/>
          <p:nvPr/>
        </p:nvSpPr>
        <p:spPr>
          <a:xfrm>
            <a:off x="6461608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61608" y="22860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ModSecurity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61608" y="2697480"/>
            <a:ext cx="2133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 avec WAF OWASP CRS activé. Blocage confirmé en tests réels.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842019" y="2514600"/>
            <a:ext cx="237744" cy="0"/>
          </a:xfrm>
          <a:prstGeom prst="line">
            <a:avLst/>
          </a:prstGeom>
          <a:noFill/>
          <a:ln w="25400">
            <a:solidFill>
              <a:srgbClr val="22D3C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098051" y="1600200"/>
            <a:ext cx="2590724" cy="1828800"/>
          </a:xfrm>
          <a:prstGeom prst="roundRect">
            <a:avLst>
              <a:gd name="adj" fmla="val 3500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326651" y="1801368"/>
            <a:ext cx="384048" cy="384048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8" name="Text 26"/>
          <p:cNvSpPr/>
          <p:nvPr/>
        </p:nvSpPr>
        <p:spPr>
          <a:xfrm>
            <a:off x="9326651" y="1801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26651" y="2286000"/>
            <a:ext cx="21335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+ PostgreSQL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326651" y="2697480"/>
            <a:ext cx="21335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uniquement depuis la zone APPLICATIF. Règles iptables anti-contournement.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" y="3657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MÉCANISMES DE HAUTE DISPONIBILITÉ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02920" y="3977640"/>
            <a:ext cx="2625014" cy="1234440"/>
          </a:xfrm>
          <a:prstGeom prst="roundRect">
            <a:avLst>
              <a:gd name="adj" fmla="val 5185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4160520"/>
            <a:ext cx="329184" cy="329184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704088" y="4544568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Bascule automatique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704088" y="4800600"/>
            <a:ext cx="2222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HAProxy actif/passif via Keepalived, sans intervention humaine.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3356534" y="3977640"/>
            <a:ext cx="2625014" cy="1234440"/>
          </a:xfrm>
          <a:prstGeom prst="roundRect">
            <a:avLst>
              <a:gd name="adj" fmla="val 5185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702" y="4160520"/>
            <a:ext cx="329184" cy="329184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3557702" y="4544568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synchrone</a:t>
            </a:r>
            <a:endParaRPr lang="en-US" sz="1100" dirty="0"/>
          </a:p>
        </p:txBody>
      </p:sp>
      <p:sp>
        <p:nvSpPr>
          <p:cNvPr id="39" name="Text 35"/>
          <p:cNvSpPr/>
          <p:nvPr/>
        </p:nvSpPr>
        <p:spPr>
          <a:xfrm>
            <a:off x="3557702" y="4800600"/>
            <a:ext cx="2222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PostgreSQL secondaire promouvable en moins de 2 minutes.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6210148" y="3977640"/>
            <a:ext cx="2625014" cy="1234440"/>
          </a:xfrm>
          <a:prstGeom prst="roundRect">
            <a:avLst>
              <a:gd name="adj" fmla="val 5185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316" y="4160520"/>
            <a:ext cx="329184" cy="329184"/>
          </a:xfrm>
          <a:prstGeom prst="rect">
            <a:avLst/>
          </a:prstGeom>
        </p:spPr>
      </p:pic>
      <p:sp>
        <p:nvSpPr>
          <p:cNvPr id="42" name="Text 37"/>
          <p:cNvSpPr/>
          <p:nvPr/>
        </p:nvSpPr>
        <p:spPr>
          <a:xfrm>
            <a:off x="6411316" y="4544568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3-2-1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6411316" y="4800600"/>
            <a:ext cx="2222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copies des données, 2 supports différents, 1 copie hors ligne.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9063761" y="3977640"/>
            <a:ext cx="2625014" cy="1234440"/>
          </a:xfrm>
          <a:prstGeom prst="roundRect">
            <a:avLst>
              <a:gd name="adj" fmla="val 5185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929" y="4160520"/>
            <a:ext cx="329184" cy="329184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9264929" y="4544568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 cible</a:t>
            </a:r>
            <a:endParaRPr lang="en-US" sz="1100" dirty="0"/>
          </a:p>
        </p:txBody>
      </p:sp>
      <p:sp>
        <p:nvSpPr>
          <p:cNvPr id="47" name="Text 41"/>
          <p:cNvSpPr/>
          <p:nvPr/>
        </p:nvSpPr>
        <p:spPr>
          <a:xfrm>
            <a:off x="9264929" y="4800600"/>
            <a:ext cx="22226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99,5 % — soit moins de 44 heures d'indisponibilité par an.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435809" y="2425339"/>
            <a:ext cx="115490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4 — PLANIFICATION DU PROJET EN MÉTHODE AGILE SCRUM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165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PLANIFICATION DU PROJET EN MÉTHODE AGILE SCRUM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 — Gouvernance agile Scrum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37215" y="12070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C1.3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102714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projet ECOTRACK adopte le framework Agile Scrum, particulièrement adapté à sa nature itérative, multidisciplinaire et à fort risque technique.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96596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10029" y="2286000"/>
            <a:ext cx="731520" cy="731520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901" y="2404872"/>
            <a:ext cx="493776" cy="49377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" y="32004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77240" y="365760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 la vision fonctionnelle des services de la métropole, rédige et priorise le Product Backlog, valide les livrables.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22978" y="196596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30088" y="2286000"/>
            <a:ext cx="731520" cy="731520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960" y="2404872"/>
            <a:ext cx="493776" cy="4937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551578" y="32004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4597298" y="365760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 du cadre Agile, lève les obstacles, protège la charge de travail de l'équipe, maintient la vélocité.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8143037" y="1965960"/>
            <a:ext cx="3545738" cy="3566160"/>
          </a:xfrm>
          <a:prstGeom prst="roundRect">
            <a:avLst>
              <a:gd name="adj" fmla="val 2063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9550146" y="2286000"/>
            <a:ext cx="731520" cy="731520"/>
          </a:xfrm>
          <a:prstGeom prst="ellipse">
            <a:avLst/>
          </a:prstGeom>
          <a:solidFill>
            <a:srgbClr val="22D3C9">
              <a:alpha val="15000"/>
            </a:srgbClr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9018" y="2404872"/>
            <a:ext cx="493776" cy="49377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71637" y="3200400"/>
            <a:ext cx="3088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de développement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8417357" y="365760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1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ingénieurs auto-organisés et pluridisciplinaires : réseau, cybersécurité, IoT.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4 — PLANIFICATION DU PROJET EN MÉTHODE AGILE SCRUM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 — Structure des sprints et jalons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Cycles de développement fixés à 2 semaines par sprint, chacun centré sur un livrable technique validable.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1097280" y="1828800"/>
            <a:ext cx="0" cy="4498848"/>
          </a:xfrm>
          <a:prstGeom prst="line">
            <a:avLst/>
          </a:prstGeom>
          <a:noFill/>
          <a:ln w="25400">
            <a:solidFill>
              <a:srgbClr val="26405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8680" y="1764792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764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554480" y="1691640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169164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200400" y="1691640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Proxmox, bridges réseau et pare-feu pfSense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459736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54480" y="2386584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238658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00400" y="2386584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HAProxy + Nginx + ModSecurity, tests WAF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68680" y="3154680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1554480" y="3081528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0" y="3081528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200400" y="3081528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Mosquitto MQTT + broker IoT, simulation capteurs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68680" y="3849624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3849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554480" y="3776472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0" y="3776472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3200400" y="3776472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Wazuh SIEM + agents HIDS + VirusTotal CTI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68680" y="4544568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6868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554480" y="4471416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828800" y="4471416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200400" y="4471416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+ stack ELK, tableaux de bord temps réel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868680" y="5239512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239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554480" y="5166360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828800" y="5166360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200400" y="5166360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résilience HAProxy, réplication PostgreSQL, bascule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68680" y="5934456"/>
            <a:ext cx="457200" cy="457200"/>
          </a:xfrm>
          <a:prstGeom prst="ellipse">
            <a:avLst/>
          </a:prstGeom>
          <a:solidFill>
            <a:srgbClr val="22D3C9"/>
          </a:solidFill>
          <a:ln w="38100">
            <a:solidFill>
              <a:srgbClr val="0B162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5934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1554480" y="5861304"/>
            <a:ext cx="10134295" cy="603504"/>
          </a:xfrm>
          <a:prstGeom prst="roundRect">
            <a:avLst>
              <a:gd name="adj" fmla="val 909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828800" y="5861304"/>
            <a:ext cx="1371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3200400" y="5861304"/>
            <a:ext cx="82140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initial de sécurité, rédaction PCA/PRA, documentation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321451" y="2425339"/>
            <a:ext cx="1154909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5 — AUDIT INITIAL ET GESTION DES RISQUES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1730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AUDIT INITIAL ET GESTION DES RISQUES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5.1 — Analyse SWOT de l'infrastructure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234440"/>
            <a:ext cx="5478628" cy="2011680"/>
          </a:xfrm>
          <a:prstGeom prst="roundRect">
            <a:avLst>
              <a:gd name="adj" fmla="val 36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1435608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1399032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77240" y="187452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open-source cohérent et souverain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Défense en profondeur multicouche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(métriques + logs + sécurité)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CTI VirusTotal native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ANSSI et RGPD by design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210148" y="1234440"/>
            <a:ext cx="5478628" cy="2011680"/>
          </a:xfrm>
          <a:prstGeom prst="roundRect">
            <a:avLst>
              <a:gd name="adj" fmla="val 36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6180" y="1435608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23380" y="1399032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Faiblesses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6484468" y="187452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Certificats HTTPS auto-signés en production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Scalabilité matérielle limitée au serveur Hetzner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communauté open-source pour les correctifs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502920" y="3429000"/>
            <a:ext cx="5478628" cy="2011680"/>
          </a:xfrm>
          <a:prstGeom prst="roundRect">
            <a:avLst>
              <a:gd name="adj" fmla="val 36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" y="3630168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16152" y="3593592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777240" y="406908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Écosystème IoT MQTT en forte expansion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croissante du modèle Zero Trust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à d'autres cas d'usage Smart City (air, éclairage)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210148" y="3429000"/>
            <a:ext cx="5478628" cy="2011680"/>
          </a:xfrm>
          <a:prstGeom prst="roundRect">
            <a:avLst>
              <a:gd name="adj" fmla="val 3636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6180" y="3630168"/>
            <a:ext cx="347472" cy="34747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23380" y="3593592"/>
            <a:ext cx="45642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Menaces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484468" y="4069080"/>
            <a:ext cx="492998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Vulnérabilités zero-day sur composants open-source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Attaques sur protocoles IoT (MQTT non chiffré)</a:t>
            </a:r>
            <a:endParaRPr lang="en-US" sz="1080" dirty="0"/>
          </a:p>
          <a:p>
            <a:pPr marL="342900" indent="-342900">
              <a:lnSpc>
                <a:spcPct val="118000"/>
              </a:lnSpc>
              <a:spcAft>
                <a:spcPts val="400"/>
              </a:spcAft>
              <a:buSzPct val="100000"/>
              <a:buChar char="●"/>
            </a:pPr>
            <a:r>
              <a:rPr lang="en-US" sz="108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rapide du paysage des cybermenaces</a:t>
            </a:r>
            <a:endParaRPr lang="en-US" sz="10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5 — AUDIT INITIAL ET GESTION DES RISQUES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5.2 / 5.3 — Registre des risques et PCA/PRA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EXTRAIT DU REGISTRE DES RISQUES — TOP 5 PRIORITAIRES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8595360" cy="512064"/>
          </a:xfrm>
          <a:prstGeom prst="roundRect">
            <a:avLst>
              <a:gd name="adj" fmla="val 892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3619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R01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280160" y="153619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Compromission capteur IoT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60520" y="153619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49240" y="153619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46520" y="15361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zone IoT + surveillance Suricata</a:t>
            </a:r>
            <a:endParaRPr lang="en-US" sz="980" dirty="0"/>
          </a:p>
        </p:txBody>
      </p:sp>
      <p:sp>
        <p:nvSpPr>
          <p:cNvPr id="14" name="Shape 12"/>
          <p:cNvSpPr/>
          <p:nvPr/>
        </p:nvSpPr>
        <p:spPr>
          <a:xfrm>
            <a:off x="502920" y="2130552"/>
            <a:ext cx="8595360" cy="512064"/>
          </a:xfrm>
          <a:prstGeom prst="roundRect">
            <a:avLst>
              <a:gd name="adj" fmla="val 892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" y="213055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R02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280160" y="213055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Vulnérabilité applicative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60520" y="213055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Moyenne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349240" y="213055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46520" y="21305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ModSecurity + pentests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502920" y="2724912"/>
            <a:ext cx="8595360" cy="512064"/>
          </a:xfrm>
          <a:prstGeom prst="roundRect">
            <a:avLst>
              <a:gd name="adj" fmla="val 892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272491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R03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280160" y="272491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Corruption/perte PostgreSQL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60520" y="272491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72491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7249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Réplication synchrone + backups 3-2-1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502920" y="3319272"/>
            <a:ext cx="8595360" cy="512064"/>
          </a:xfrm>
          <a:prstGeom prst="roundRect">
            <a:avLst>
              <a:gd name="adj" fmla="val 892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40080" y="331927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R04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280160" y="331927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SSH non autorisé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160520" y="331927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349240" y="331927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46520" y="33192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RSA 2048 + VPN + fail2ban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502920" y="3913632"/>
            <a:ext cx="8595360" cy="512064"/>
          </a:xfrm>
          <a:prstGeom prst="roundRect">
            <a:avLst>
              <a:gd name="adj" fmla="val 8929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3913632"/>
            <a:ext cx="777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R05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280160" y="3913632"/>
            <a:ext cx="2788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tampering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160520" y="3913632"/>
            <a:ext cx="1188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913632"/>
            <a:ext cx="10972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Élevé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46520" y="39136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logs centralisés lecture seule</a:t>
            </a:r>
            <a:endParaRPr lang="en-US" sz="980" dirty="0"/>
          </a:p>
        </p:txBody>
      </p:sp>
      <p:sp>
        <p:nvSpPr>
          <p:cNvPr id="38" name="Text 36"/>
          <p:cNvSpPr/>
          <p:nvPr/>
        </p:nvSpPr>
        <p:spPr>
          <a:xfrm>
            <a:off x="502920" y="45994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risques identifiés et hiérarchisés au total — registre complet documenté avec mesures de mitigation associées.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372600" y="1641348"/>
            <a:ext cx="2316175" cy="4160520"/>
          </a:xfrm>
          <a:prstGeom prst="roundRect">
            <a:avLst>
              <a:gd name="adj" fmla="val 3158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3799" y="1687068"/>
            <a:ext cx="493776" cy="493776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9372599" y="2263140"/>
            <a:ext cx="23161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/ PRA</a:t>
            </a:r>
            <a:endParaRPr lang="en-US" sz="1250" dirty="0"/>
          </a:p>
        </p:txBody>
      </p:sp>
      <p:sp>
        <p:nvSpPr>
          <p:cNvPr id="42" name="Text 39"/>
          <p:cNvSpPr/>
          <p:nvPr/>
        </p:nvSpPr>
        <p:spPr>
          <a:xfrm>
            <a:off x="9646920" y="2624328"/>
            <a:ext cx="1767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RTO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9646920" y="2862072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4 h</a:t>
            </a:r>
            <a:endParaRPr lang="en-US" sz="2400" dirty="0"/>
          </a:p>
        </p:txBody>
      </p:sp>
      <p:sp>
        <p:nvSpPr>
          <p:cNvPr id="44" name="Text 41"/>
          <p:cNvSpPr/>
          <p:nvPr/>
        </p:nvSpPr>
        <p:spPr>
          <a:xfrm>
            <a:off x="9646920" y="3310820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Interruption max</a:t>
            </a:r>
            <a:endParaRPr lang="en-US" sz="950" dirty="0"/>
          </a:p>
        </p:txBody>
      </p:sp>
      <p:sp>
        <p:nvSpPr>
          <p:cNvPr id="45" name="Text 42"/>
          <p:cNvSpPr/>
          <p:nvPr/>
        </p:nvSpPr>
        <p:spPr>
          <a:xfrm>
            <a:off x="9646918" y="3721608"/>
            <a:ext cx="1767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</a:t>
            </a:r>
            <a:endParaRPr lang="en-US" sz="950" dirty="0"/>
          </a:p>
        </p:txBody>
      </p:sp>
      <p:sp>
        <p:nvSpPr>
          <p:cNvPr id="46" name="Text 43"/>
          <p:cNvSpPr/>
          <p:nvPr/>
        </p:nvSpPr>
        <p:spPr>
          <a:xfrm>
            <a:off x="9646920" y="3976256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1 h</a:t>
            </a:r>
            <a:endParaRPr lang="en-US" sz="2400" dirty="0"/>
          </a:p>
        </p:txBody>
      </p:sp>
      <p:sp>
        <p:nvSpPr>
          <p:cNvPr id="47" name="Text 44"/>
          <p:cNvSpPr/>
          <p:nvPr/>
        </p:nvSpPr>
        <p:spPr>
          <a:xfrm>
            <a:off x="9646920" y="4416552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 de données max</a:t>
            </a:r>
            <a:endParaRPr lang="en-US" sz="950" dirty="0"/>
          </a:p>
        </p:txBody>
      </p:sp>
      <p:sp>
        <p:nvSpPr>
          <p:cNvPr id="48" name="Text 45"/>
          <p:cNvSpPr/>
          <p:nvPr/>
        </p:nvSpPr>
        <p:spPr>
          <a:xfrm>
            <a:off x="9646920" y="4837176"/>
            <a:ext cx="1767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DISPONIBILITÉ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9646920" y="5084064"/>
            <a:ext cx="1767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99,5 %</a:t>
            </a:r>
            <a:endParaRPr lang="en-US" sz="2400" dirty="0"/>
          </a:p>
        </p:txBody>
      </p:sp>
      <p:sp>
        <p:nvSpPr>
          <p:cNvPr id="50" name="Text 47"/>
          <p:cNvSpPr/>
          <p:nvPr/>
        </p:nvSpPr>
        <p:spPr>
          <a:xfrm>
            <a:off x="9646920" y="5550408"/>
            <a:ext cx="1767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44h d'indispo / an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-7055" y="2409482"/>
            <a:ext cx="122061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6 — ARCHITECTURE DE DÉPLOIEMENT ET MODÉLISATION BPMN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48136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ARCHITECTURE DE DÉPLOIEMENT ET MODÉLISATION BPMN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— Processus BPMN : IoT et Monitoring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1 — Remontée IoT vers applicatif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618488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819656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74650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143000" y="2039112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capteur_simulation.py produit des valeurs 0–100 % à intervalles réguliers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50392" y="2468880"/>
            <a:ext cx="0" cy="128016"/>
          </a:xfrm>
          <a:prstGeom prst="line">
            <a:avLst/>
          </a:prstGeom>
          <a:noFill/>
          <a:ln w="19050">
            <a:solidFill>
              <a:srgbClr val="22D3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06040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807208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43000" y="2734056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143000" y="302666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publiées sur Mosquitto MQTT (zone IoT) via port sécurisé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50392" y="3456432"/>
            <a:ext cx="0" cy="128016"/>
          </a:xfrm>
          <a:prstGeom prst="line">
            <a:avLst/>
          </a:prstGeom>
          <a:noFill/>
          <a:ln w="19050">
            <a:solidFill>
              <a:srgbClr val="22D3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593592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5800" y="3794760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43000" y="3721608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Consommation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143000" y="401421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mqtt_vers_db.py met à jour PostgreSQL via passerelle contrôlée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50392" y="4443984"/>
            <a:ext cx="0" cy="128016"/>
          </a:xfrm>
          <a:prstGeom prst="line">
            <a:avLst/>
          </a:prstGeom>
          <a:noFill/>
          <a:ln w="19050">
            <a:solidFill>
              <a:srgbClr val="22D3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581144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" y="4782312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43000" y="470916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3000" y="500176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web ECOTRACK affiche en temps réel &lt; 2 secondes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78728" y="1234440"/>
            <a:ext cx="5410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2 — Monitoring applicatif vers Management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278728" y="1618488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61608" y="1819656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34" name="Text 32"/>
          <p:cNvSpPr/>
          <p:nvPr/>
        </p:nvSpPr>
        <p:spPr>
          <a:xfrm>
            <a:off x="6461608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18808" y="1746504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918808" y="2039112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Exporter expose métriques CPU/RAM/réseau/disque par VM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626200" y="2468880"/>
            <a:ext cx="0" cy="128016"/>
          </a:xfrm>
          <a:prstGeom prst="line">
            <a:avLst/>
          </a:prstGeom>
          <a:noFill/>
          <a:ln w="19050">
            <a:solidFill>
              <a:srgbClr val="22D3C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8728" y="2606040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461608" y="2807208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40" name="Text 38"/>
          <p:cNvSpPr/>
          <p:nvPr/>
        </p:nvSpPr>
        <p:spPr>
          <a:xfrm>
            <a:off x="6461608" y="28072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18808" y="2734056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918808" y="3026664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interroge périodiquement les endpoints (scraping)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626200" y="3456432"/>
            <a:ext cx="0" cy="128016"/>
          </a:xfrm>
          <a:prstGeom prst="line">
            <a:avLst/>
          </a:prstGeom>
          <a:noFill/>
          <a:ln w="19050">
            <a:solidFill>
              <a:srgbClr val="22D3C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78728" y="3593592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461608" y="3794760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46" name="Text 44"/>
          <p:cNvSpPr/>
          <p:nvPr/>
        </p:nvSpPr>
        <p:spPr>
          <a:xfrm>
            <a:off x="6461608" y="37947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18808" y="3721608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6918808" y="4014216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indexation dans la TSDB (Time Series Database)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626200" y="4443984"/>
            <a:ext cx="0" cy="128016"/>
          </a:xfrm>
          <a:prstGeom prst="line">
            <a:avLst/>
          </a:prstGeom>
          <a:noFill/>
          <a:ln w="19050">
            <a:solidFill>
              <a:srgbClr val="22D3C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78728" y="4581144"/>
            <a:ext cx="5410048" cy="841248"/>
          </a:xfrm>
          <a:prstGeom prst="roundRect">
            <a:avLst>
              <a:gd name="adj" fmla="val 6522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461608" y="4782312"/>
            <a:ext cx="329184" cy="329184"/>
          </a:xfrm>
          <a:prstGeom prst="ellipse">
            <a:avLst/>
          </a:prstGeom>
          <a:solidFill>
            <a:srgbClr val="22D3C9"/>
          </a:solidFill>
          <a:ln/>
        </p:spPr>
      </p:sp>
      <p:sp>
        <p:nvSpPr>
          <p:cNvPr id="52" name="Text 50"/>
          <p:cNvSpPr/>
          <p:nvPr/>
        </p:nvSpPr>
        <p:spPr>
          <a:xfrm>
            <a:off x="6461608" y="4782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6918808" y="4709160"/>
            <a:ext cx="458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</a:t>
            </a:r>
            <a:endParaRPr lang="en-US" sz="1250" dirty="0"/>
          </a:p>
        </p:txBody>
      </p:sp>
      <p:sp>
        <p:nvSpPr>
          <p:cNvPr id="54" name="Text 52"/>
          <p:cNvSpPr/>
          <p:nvPr/>
        </p:nvSpPr>
        <p:spPr>
          <a:xfrm>
            <a:off x="6918808" y="5001768"/>
            <a:ext cx="4587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alerte si CPU &gt; 85 % pendant 5 min ou erreurs API &gt; 2 %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6 — ARCHITECTURE DE DÉPLOIEMENT ET MODÉLISATION BPMN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6.1 / 6.2 — Processus SIEM et plan de déploiement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207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PROCESSUS 3 — Remontée d'événements vers Wazuh (SIEM)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554480"/>
            <a:ext cx="2090867" cy="1417320"/>
          </a:xfrm>
          <a:prstGeom prst="roundRect">
            <a:avLst>
              <a:gd name="adj" fmla="val 387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67512" y="171907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2121408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246888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Wazuh installés sur chaque VM (HIDS/HIPS)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12075" y="2258568"/>
            <a:ext cx="146304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76667" y="1554480"/>
            <a:ext cx="2090867" cy="1417320"/>
          </a:xfrm>
          <a:prstGeom prst="roundRect">
            <a:avLst>
              <a:gd name="adj" fmla="val 387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41259" y="171907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16" name="Text 14"/>
          <p:cNvSpPr/>
          <p:nvPr/>
        </p:nvSpPr>
        <p:spPr>
          <a:xfrm>
            <a:off x="2941259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41259" y="2121408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locale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941259" y="246888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logs, authentification, FIM, alertes Suricata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85822" y="2258568"/>
            <a:ext cx="146304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050414" y="1554480"/>
            <a:ext cx="2090867" cy="1417320"/>
          </a:xfrm>
          <a:prstGeom prst="roundRect">
            <a:avLst>
              <a:gd name="adj" fmla="val 387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5006" y="171907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5215006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5006" y="2121408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5006" y="246888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Événements acheminés en zone MANAGEMENT, canal chiffré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159569" y="2258568"/>
            <a:ext cx="146304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24161" y="1554480"/>
            <a:ext cx="2090867" cy="1417320"/>
          </a:xfrm>
          <a:prstGeom prst="roundRect">
            <a:avLst>
              <a:gd name="adj" fmla="val 387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488753" y="171907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8" name="Text 26"/>
          <p:cNvSpPr/>
          <p:nvPr/>
        </p:nvSpPr>
        <p:spPr>
          <a:xfrm>
            <a:off x="7488753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488753" y="2121408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MITRE ATT&amp;CK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88753" y="246888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Corrélation, indexation Elasticsearch, visualisation Kibana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9433316" y="2258568"/>
            <a:ext cx="146304" cy="0"/>
          </a:xfrm>
          <a:prstGeom prst="line">
            <a:avLst/>
          </a:prstGeom>
          <a:noFill/>
          <a:ln w="2540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597908" y="1554480"/>
            <a:ext cx="2090867" cy="1417320"/>
          </a:xfrm>
          <a:prstGeom prst="roundRect">
            <a:avLst>
              <a:gd name="adj" fmla="val 387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762500" y="1719072"/>
            <a:ext cx="329184" cy="32918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34" name="Text 32"/>
          <p:cNvSpPr/>
          <p:nvPr/>
        </p:nvSpPr>
        <p:spPr>
          <a:xfrm>
            <a:off x="9762500" y="17190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762500" y="2121408"/>
            <a:ext cx="176168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Enrichissement CTI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762500" y="2468880"/>
            <a:ext cx="17616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9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Interrogation automatique VirusTotal pour IOC suspect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02920" y="3246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DÉPLOIEMENT ET INDICATEURS POST-PRODUCTION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566160"/>
            <a:ext cx="2625014" cy="1783080"/>
          </a:xfrm>
          <a:prstGeom prst="roundRect">
            <a:avLst>
              <a:gd name="adj" fmla="val 3590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749040"/>
            <a:ext cx="365760" cy="36576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704088" y="4187952"/>
            <a:ext cx="22226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par phases</a:t>
            </a:r>
            <a:endParaRPr lang="en-US" sz="1150" dirty="0"/>
          </a:p>
        </p:txBody>
      </p:sp>
      <p:sp>
        <p:nvSpPr>
          <p:cNvPr id="41" name="Text 38"/>
          <p:cNvSpPr/>
          <p:nvPr/>
        </p:nvSpPr>
        <p:spPr>
          <a:xfrm>
            <a:off x="704088" y="4645152"/>
            <a:ext cx="2222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pfSense → DMZ → APPLICATIF → IoT → MANAGEMENT, validation isolée avant intégration</a:t>
            </a:r>
            <a:endParaRPr lang="en-US" sz="980" dirty="0"/>
          </a:p>
        </p:txBody>
      </p:sp>
      <p:sp>
        <p:nvSpPr>
          <p:cNvPr id="42" name="Shape 39"/>
          <p:cNvSpPr/>
          <p:nvPr/>
        </p:nvSpPr>
        <p:spPr>
          <a:xfrm>
            <a:off x="3356534" y="3566160"/>
            <a:ext cx="2625014" cy="1783080"/>
          </a:xfrm>
          <a:prstGeom prst="roundRect">
            <a:avLst>
              <a:gd name="adj" fmla="val 3590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702" y="3749040"/>
            <a:ext cx="365760" cy="365760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3557702" y="4187952"/>
            <a:ext cx="22226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documenté</a:t>
            </a:r>
            <a:endParaRPr lang="en-US" sz="1150" dirty="0"/>
          </a:p>
        </p:txBody>
      </p:sp>
      <p:sp>
        <p:nvSpPr>
          <p:cNvPr id="45" name="Text 41"/>
          <p:cNvSpPr/>
          <p:nvPr/>
        </p:nvSpPr>
        <p:spPr>
          <a:xfrm>
            <a:off x="3557702" y="4645152"/>
            <a:ext cx="2222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Proxmox VE avant chaque déploiement majeur, restaurable en &lt; 30 minutes</a:t>
            </a:r>
            <a:endParaRPr lang="en-US" sz="980" dirty="0"/>
          </a:p>
        </p:txBody>
      </p:sp>
      <p:sp>
        <p:nvSpPr>
          <p:cNvPr id="46" name="Shape 42"/>
          <p:cNvSpPr/>
          <p:nvPr/>
        </p:nvSpPr>
        <p:spPr>
          <a:xfrm>
            <a:off x="6210148" y="3566160"/>
            <a:ext cx="2625014" cy="1783080"/>
          </a:xfrm>
          <a:prstGeom prst="roundRect">
            <a:avLst>
              <a:gd name="adj" fmla="val 3590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4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316" y="3749040"/>
            <a:ext cx="365760" cy="365760"/>
          </a:xfrm>
          <a:prstGeom prst="rect">
            <a:avLst/>
          </a:prstGeom>
        </p:spPr>
      </p:pic>
      <p:sp>
        <p:nvSpPr>
          <p:cNvPr id="48" name="Text 43"/>
          <p:cNvSpPr/>
          <p:nvPr/>
        </p:nvSpPr>
        <p:spPr>
          <a:xfrm>
            <a:off x="6411316" y="4187952"/>
            <a:ext cx="22226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de recette</a:t>
            </a:r>
            <a:endParaRPr lang="en-US" sz="1150" dirty="0"/>
          </a:p>
        </p:txBody>
      </p:sp>
      <p:sp>
        <p:nvSpPr>
          <p:cNvPr id="49" name="Text 44"/>
          <p:cNvSpPr/>
          <p:nvPr/>
        </p:nvSpPr>
        <p:spPr>
          <a:xfrm>
            <a:off x="6411316" y="4645152"/>
            <a:ext cx="2222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ModSecurity, bascule HAProxy, réplication PostgreSQL, alertes Grafana</a:t>
            </a:r>
            <a:endParaRPr lang="en-US" sz="980" dirty="0"/>
          </a:p>
        </p:txBody>
      </p:sp>
      <p:sp>
        <p:nvSpPr>
          <p:cNvPr id="50" name="Shape 45"/>
          <p:cNvSpPr/>
          <p:nvPr/>
        </p:nvSpPr>
        <p:spPr>
          <a:xfrm>
            <a:off x="9063761" y="3566160"/>
            <a:ext cx="2625014" cy="1783080"/>
          </a:xfrm>
          <a:prstGeom prst="roundRect">
            <a:avLst>
              <a:gd name="adj" fmla="val 3590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5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929" y="3749040"/>
            <a:ext cx="365760" cy="36576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9264929" y="4187952"/>
            <a:ext cx="22226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suivi</a:t>
            </a:r>
            <a:endParaRPr lang="en-US" sz="1150" dirty="0"/>
          </a:p>
        </p:txBody>
      </p:sp>
      <p:sp>
        <p:nvSpPr>
          <p:cNvPr id="53" name="Text 47"/>
          <p:cNvSpPr/>
          <p:nvPr/>
        </p:nvSpPr>
        <p:spPr>
          <a:xfrm>
            <a:off x="9264929" y="4645152"/>
            <a:ext cx="22226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MQTT &lt; 2s, API &gt; 99 %, MTTR &lt; 4h, alertes traitées &lt; 30 min</a:t>
            </a:r>
            <a:endParaRPr lang="en-US" sz="9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-7055" y="2409482"/>
            <a:ext cx="1220610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PARTIE 7 — CONFORMITÉ, GOUVERNANCE SI ET ÉCO-CONCEPTION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8235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CONFORMITÉ, GOUVERNANCE SI ET ÉCO-CONCEPTION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 / 7.2 — Conformité RGPD et ANSSI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637215" y="12070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C1.7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1600200"/>
            <a:ext cx="5410048" cy="4160520"/>
          </a:xfrm>
          <a:prstGeom prst="roundRect">
            <a:avLst>
              <a:gd name="adj" fmla="val 1758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856232"/>
            <a:ext cx="384048" cy="3840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187452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— Privacy by Design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777240" y="2468880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Minimisation des données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271576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 l'état de remplissage (0–100 %) est collecté. Aucune donnée personnelle des agents.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777240" y="3310128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77240" y="3557016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Chiffrement systématique en transit (TLS 1.3/AES-256) et au repos, ACL sur tous les services.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77240" y="4151376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des accès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77240" y="43982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Journalisation immuable centralisée par Wazuh pour l'ensemble des accès.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77240" y="4992624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l'effacement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77240" y="523951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Procédures documentées et automatisées de purge des données utilisateurs.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78728" y="1600200"/>
            <a:ext cx="5410048" cy="4160520"/>
          </a:xfrm>
          <a:prstGeom prst="roundRect">
            <a:avLst>
              <a:gd name="adj" fmla="val 1758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048" y="1856232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055968" y="1874520"/>
            <a:ext cx="440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ANSSI et gouvernance SI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553048" y="2468880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sécurisation des SI</a:t>
            </a:r>
            <a:endParaRPr lang="en-US" sz="1150" dirty="0"/>
          </a:p>
        </p:txBody>
      </p:sp>
      <p:sp>
        <p:nvSpPr>
          <p:cNvPr id="24" name="Text 20"/>
          <p:cNvSpPr/>
          <p:nvPr/>
        </p:nvSpPr>
        <p:spPr>
          <a:xfrm>
            <a:off x="6553048" y="2715768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en 5 zones, durcissement Debian 12 (SSH clé RSA, fail2ban).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553048" y="3310128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Général de Sécurité</a:t>
            </a:r>
            <a:endParaRPr lang="en-US" sz="1150" dirty="0"/>
          </a:p>
        </p:txBody>
      </p:sp>
      <p:sp>
        <p:nvSpPr>
          <p:cNvPr id="26" name="Text 22"/>
          <p:cNvSpPr/>
          <p:nvPr/>
        </p:nvSpPr>
        <p:spPr>
          <a:xfrm>
            <a:off x="6553048" y="3557016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obligatoire + SSH par clé RSA 2048 bits, mot de passe désactivé.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6553048" y="4151376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Référentiel IoT ANSSI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6553048" y="4398264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de la zone IoT, surveillance comportementale Suricata.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6553048" y="4992624"/>
            <a:ext cx="486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et SOC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6553048" y="5239512"/>
            <a:ext cx="4861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Centralisation des journaux, détection d'anomalies, feuille de route SOC.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7 — CONFORMITÉ, GOUVERNANCE SI ET ÉCO-CONCEPTION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621792"/>
            <a:ext cx="100885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 / 7.4 — Zero Trust et éco-conception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ZERO TRUST — «NE JAMAIS FAIRE CONFIANCE, TOUJOURS VÉRIFIER»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536192"/>
            <a:ext cx="2625014" cy="1463040"/>
          </a:xfrm>
          <a:prstGeom prst="roundRect">
            <a:avLst>
              <a:gd name="adj" fmla="val 437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719072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4088" y="2130552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Micro-segmentation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04088" y="2414016"/>
            <a:ext cx="2222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zones réseau étanches, flux inter-zones explicitement autorisés par pfSense</a:t>
            </a:r>
            <a:endParaRPr lang="en-US" sz="980" dirty="0"/>
          </a:p>
        </p:txBody>
      </p:sp>
      <p:sp>
        <p:nvSpPr>
          <p:cNvPr id="12" name="Shape 9"/>
          <p:cNvSpPr/>
          <p:nvPr/>
        </p:nvSpPr>
        <p:spPr>
          <a:xfrm>
            <a:off x="3356534" y="1536192"/>
            <a:ext cx="2625014" cy="1463040"/>
          </a:xfrm>
          <a:prstGeom prst="roundRect">
            <a:avLst>
              <a:gd name="adj" fmla="val 437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702" y="1719072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57702" y="2130552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forte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557702" y="2414016"/>
            <a:ext cx="2222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OpenVPN obligatoire en entrée + authentification par clé RSA pour SSH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6210148" y="1536192"/>
            <a:ext cx="2625014" cy="1463040"/>
          </a:xfrm>
          <a:prstGeom prst="roundRect">
            <a:avLst>
              <a:gd name="adj" fmla="val 437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1316" y="1719072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11316" y="2130552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Moindre privilège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11316" y="2414016"/>
            <a:ext cx="2222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composant dispose uniquement des droits nécessaires à sa fonction</a:t>
            </a:r>
            <a:endParaRPr lang="en-US" sz="980" dirty="0"/>
          </a:p>
        </p:txBody>
      </p:sp>
      <p:sp>
        <p:nvSpPr>
          <p:cNvPr id="20" name="Shape 15"/>
          <p:cNvSpPr/>
          <p:nvPr/>
        </p:nvSpPr>
        <p:spPr>
          <a:xfrm>
            <a:off x="9063761" y="1536192"/>
            <a:ext cx="2625014" cy="1463040"/>
          </a:xfrm>
          <a:prstGeom prst="roundRect">
            <a:avLst>
              <a:gd name="adj" fmla="val 4375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4929" y="171907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264929" y="2130552"/>
            <a:ext cx="22226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Inspection continue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9264929" y="2414016"/>
            <a:ext cx="22226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98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requête est analysée indépendamment de son origine géographique et réseau</a:t>
            </a:r>
            <a:endParaRPr lang="en-US" sz="980" dirty="0"/>
          </a:p>
        </p:txBody>
      </p:sp>
      <p:sp>
        <p:nvSpPr>
          <p:cNvPr id="24" name="Text 18"/>
          <p:cNvSpPr/>
          <p:nvPr/>
        </p:nvSpPr>
        <p:spPr>
          <a:xfrm>
            <a:off x="502920" y="3246120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ÉCO-CONCEPTION ET NUMÉRIQUE RESPONSABLE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02920" y="3584448"/>
            <a:ext cx="3545738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3785616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4224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open-source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1520" y="4517136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achat de licences logicielles, longévité du matériel favorisée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4322978" y="3584448"/>
            <a:ext cx="3545738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1578" y="3785616"/>
            <a:ext cx="365760" cy="36576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551578" y="4224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des tournées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4551578" y="4517136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Réduction visée de 25 à 40 % des km parcourus par la flotte de bennes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8143037" y="3584448"/>
            <a:ext cx="3545738" cy="1691640"/>
          </a:xfrm>
          <a:prstGeom prst="roundRect">
            <a:avLst>
              <a:gd name="adj" fmla="val 3784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1637" y="3785616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371637" y="4224528"/>
            <a:ext cx="30885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Virtualisation consolidée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8371637" y="4517136"/>
            <a:ext cx="30885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VMs sur un seul serveur physique Hetzner, ressources partagées dynamiquement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1368735" y="3657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368735" y="5852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20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ECOTRACK  </a:t>
            </a:r>
            <a:r>
              <a:rPr lang="en-US" sz="900" dirty="0">
                <a:solidFill>
                  <a:srgbClr val="5E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SIDIBE Sâlih  —  Soutenance BC1</a:t>
            </a:r>
            <a:endParaRPr lang="en-US" sz="900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90948C29-6220-4AB7-99CE-6FEDB5812AFD}"/>
              </a:ext>
            </a:extLst>
          </p:cNvPr>
          <p:cNvSpPr txBox="1"/>
          <p:nvPr/>
        </p:nvSpPr>
        <p:spPr>
          <a:xfrm>
            <a:off x="-7055" y="2409482"/>
            <a:ext cx="122061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</a:t>
            </a:r>
            <a:r>
              <a:rPr lang="en-US" sz="4400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i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— </a:t>
            </a:r>
            <a:r>
              <a:rPr lang="en-US" sz="4400" b="1" i="1" dirty="0">
                <a:solidFill>
                  <a:schemeClr val="bg1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Bilan et acquis</a:t>
            </a:r>
            <a:endParaRPr lang="en-US" sz="4400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68459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828800"/>
            <a:ext cx="5943600" cy="5943600"/>
          </a:xfrm>
          <a:prstGeom prst="ellipse">
            <a:avLst/>
          </a:prstGeom>
          <a:solidFill>
            <a:srgbClr val="34D399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114800"/>
            <a:ext cx="5029200" cy="5029200"/>
          </a:xfrm>
          <a:prstGeom prst="ellipse">
            <a:avLst/>
          </a:prstGeom>
          <a:solidFill>
            <a:srgbClr val="22D3C9">
              <a:alpha val="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943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2D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896112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et acquis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1185855" cy="1965960"/>
          </a:xfrm>
          <a:prstGeom prst="roundRect">
            <a:avLst>
              <a:gd name="adj" fmla="val 3721"/>
            </a:avLst>
          </a:prstGeom>
          <a:solidFill>
            <a:srgbClr val="13233B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202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874520"/>
            <a:ext cx="9951415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Cette expérience a représenté un tournant majeur dans ma formation : </a:t>
            </a: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transition d'environnements locaux VMware vers un déploiement en production réelle sur serveur Hetzner/Proxmox m'a confronté aux contraintes concrètes des infrastructures exposées — gestion de la sécurité périmétrique, résolution d'incidents en conditions réelles (Keepalived, Squid, iptables), et rigueur indispensable de la documentation.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02920" y="3840480"/>
            <a:ext cx="11185855" cy="1325880"/>
          </a:xfrm>
          <a:prstGeom prst="roundRect">
            <a:avLst>
              <a:gd name="adj" fmla="val 5517"/>
            </a:avLst>
          </a:prstGeom>
          <a:solidFill>
            <a:srgbClr val="1B3252"/>
          </a:solidFill>
          <a:ln w="12700">
            <a:solidFill>
              <a:srgbClr val="203352"/>
            </a:solidFill>
            <a:prstDash val="solid"/>
          </a:ln>
          <a:effectLst>
            <a:outerShdw blurRad="127000" dist="38100" dir="27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160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3977640"/>
            <a:ext cx="995141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automatismes professionnels — </a:t>
            </a:r>
            <a:r>
              <a:rPr lang="en-US" sz="1300" dirty="0">
                <a:solidFill>
                  <a:srgbClr val="E8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configurations opaques en début de projet (permissions système, règles de filtrage avancées, chaînes iptables) sont devenues des automatismes techniques directement mobilisables en contexte professionnel.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" y="5440680"/>
            <a:ext cx="11185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22D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 — Je reste disponible pour vos questions.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SIDIBE Sâlih  —  Mastère 1 Cybersécurité  —  INGETIS Paris  —  Soutenance du 29 juin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</TotalTime>
  <Words>2897</Words>
  <Application>Microsoft Office PowerPoint</Application>
  <PresentationFormat>Grand écran</PresentationFormat>
  <Paragraphs>509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</vt:lpstr>
      <vt:lpstr>Times New Roman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ECOTRACK — BC1 Soutenance</dc:title>
  <dc:subject>PptxGenJS Presentation</dc:subject>
  <dc:creator>SIDIBE Sâlih</dc:creator>
  <cp:lastModifiedBy>Sidi_ ama</cp:lastModifiedBy>
  <cp:revision>27</cp:revision>
  <dcterms:created xsi:type="dcterms:W3CDTF">2026-06-28T14:19:24Z</dcterms:created>
  <dcterms:modified xsi:type="dcterms:W3CDTF">2026-06-29T14:31:11Z</dcterms:modified>
</cp:coreProperties>
</file>